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esson_6a_S9.pptx_build_tmp/cover.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928AA"/>
        </a:solidFill>
      </p:bgPr>
    </p:bg>
    <p:spTree>
      <p:nvGrpSpPr>
        <p:cNvPr id="1" name=""/>
        <p:cNvGrpSpPr/>
        <p:nvPr/>
      </p:nvGrpSpPr>
      <p:grpSpPr>
        <a:xfrm>
          <a:off x="0" y="0"/>
          <a:ext cx="0" cy="0"/>
          <a:chOff x="0" y="0"/>
          <a:chExt cx="0" cy="0"/>
        </a:xfrm>
      </p:grpSpPr>
      <p:sp>
        <p:nvSpPr>
          <p:cNvPr id="2" name="Shape 0"/>
          <p:cNvSpPr/>
          <p:nvPr/>
        </p:nvSpPr>
        <p:spPr>
          <a:xfrm>
            <a:off x="502920" y="548640"/>
            <a:ext cx="1737360" cy="502920"/>
          </a:xfrm>
          <a:prstGeom prst="roundRect">
            <a:avLst>
              <a:gd name="adj" fmla="val 50909"/>
            </a:avLst>
          </a:prstGeom>
          <a:solidFill>
            <a:srgbClr val="F19A65"/>
          </a:solidFill>
          <a:ln/>
        </p:spPr>
      </p:sp>
      <p:sp>
        <p:nvSpPr>
          <p:cNvPr id="3" name="Text 1"/>
          <p:cNvSpPr/>
          <p:nvPr/>
        </p:nvSpPr>
        <p:spPr>
          <a:xfrm>
            <a:off x="502920" y="548640"/>
            <a:ext cx="1737360" cy="502920"/>
          </a:xfrm>
          <a:prstGeom prst="rect">
            <a:avLst/>
          </a:prstGeom>
          <a:noFill/>
          <a:ln/>
        </p:spPr>
        <p:txBody>
          <a:bodyPr wrap="square" lIns="0" tIns="0" rIns="0" bIns="0" rtlCol="0" anchor="ctr"/>
          <a:lstStyle/>
          <a:p>
            <a:pPr algn="ctr" indent="0" marL="0">
              <a:buNone/>
            </a:pPr>
            <a:r>
              <a:rPr lang="en-US" sz="1600" b="1" dirty="0">
                <a:solidFill>
                  <a:srgbClr val="0E0142"/>
                </a:solidFill>
                <a:latin typeface="Figtree" pitchFamily="34" charset="0"/>
                <a:ea typeface="Figtree" pitchFamily="34" charset="-122"/>
                <a:cs typeface="Figtree" pitchFamily="34" charset="-120"/>
              </a:rPr>
              <a:t>LESSON 6a</a:t>
            </a:r>
            <a:endParaRPr lang="en-US" sz="1600" dirty="0"/>
          </a:p>
        </p:txBody>
      </p:sp>
      <p:sp>
        <p:nvSpPr>
          <p:cNvPr id="4" name="Text 2"/>
          <p:cNvSpPr/>
          <p:nvPr/>
        </p:nvSpPr>
        <p:spPr>
          <a:xfrm>
            <a:off x="502920" y="1188720"/>
            <a:ext cx="11155680" cy="1645920"/>
          </a:xfrm>
          <a:prstGeom prst="rect">
            <a:avLst/>
          </a:prstGeom>
          <a:noFill/>
          <a:ln/>
        </p:spPr>
        <p:txBody>
          <a:bodyPr wrap="square" lIns="0" tIns="0" rIns="0" bIns="0" rtlCol="0" anchor="t"/>
          <a:lstStyle/>
          <a:p>
            <a:pPr indent="0" marL="0">
              <a:buNone/>
            </a:pPr>
            <a:r>
              <a:rPr lang="en-US" sz="5000" b="1" dirty="0">
                <a:solidFill>
                  <a:srgbClr val="FFFFFF"/>
                </a:solidFill>
                <a:latin typeface="Figtree" pitchFamily="34" charset="0"/>
                <a:ea typeface="Figtree" pitchFamily="34" charset="-122"/>
                <a:cs typeface="Figtree" pitchFamily="34" charset="-120"/>
              </a:rPr>
              <a:t>Lesson 6a: Reading</a:t>
            </a:r>
            <a:endParaRPr lang="en-US" sz="5000" dirty="0"/>
          </a:p>
        </p:txBody>
      </p:sp>
      <p:sp>
        <p:nvSpPr>
          <p:cNvPr id="5" name="Text 3"/>
          <p:cNvSpPr/>
          <p:nvPr/>
        </p:nvSpPr>
        <p:spPr>
          <a:xfrm>
            <a:off x="502920" y="3063240"/>
            <a:ext cx="11155680" cy="1005840"/>
          </a:xfrm>
          <a:prstGeom prst="rect">
            <a:avLst/>
          </a:prstGeom>
          <a:noFill/>
          <a:ln/>
        </p:spPr>
        <p:txBody>
          <a:bodyPr wrap="square" lIns="0" tIns="0" rIns="0" bIns="0" rtlCol="0" anchor="t"/>
          <a:lstStyle/>
          <a:p>
            <a:pPr indent="0" marL="0">
              <a:buNone/>
            </a:pPr>
            <a:r>
              <a:rPr lang="en-US" sz="2550" dirty="0">
                <a:solidFill>
                  <a:srgbClr val="E5EFF9"/>
                </a:solidFill>
                <a:latin typeface="Figtree" pitchFamily="34" charset="0"/>
                <a:ea typeface="Figtree" pitchFamily="34" charset="-122"/>
                <a:cs typeface="Figtree" pitchFamily="34" charset="-120"/>
              </a:rPr>
              <a:t>Grade 4, Knowledge Unit 2: A Road to Belonging: The Great Migration</a:t>
            </a:r>
            <a:endParaRPr lang="en-US" sz="2550" dirty="0"/>
          </a:p>
        </p:txBody>
      </p:sp>
      <p:sp>
        <p:nvSpPr>
          <p:cNvPr id="6" name="Text 4"/>
          <p:cNvSpPr/>
          <p:nvPr/>
        </p:nvSpPr>
        <p:spPr>
          <a:xfrm>
            <a:off x="502920" y="4251960"/>
            <a:ext cx="11155680" cy="548640"/>
          </a:xfrm>
          <a:prstGeom prst="rect">
            <a:avLst/>
          </a:prstGeom>
          <a:noFill/>
          <a:ln/>
        </p:spPr>
        <p:txBody>
          <a:bodyPr wrap="square" lIns="0" tIns="0" rIns="0" bIns="0" rtlCol="0" anchor="t"/>
          <a:lstStyle/>
          <a:p>
            <a:pPr indent="0" marL="0">
              <a:buNone/>
            </a:pPr>
            <a:r>
              <a:rPr lang="en-US" sz="2150" i="1" dirty="0">
                <a:solidFill>
                  <a:srgbClr val="C9BEEB"/>
                </a:solidFill>
                <a:latin typeface="Figtree" pitchFamily="34" charset="0"/>
                <a:ea typeface="Figtree" pitchFamily="34" charset="-122"/>
                <a:cs typeface="Figtree" pitchFamily="34" charset="-120"/>
              </a:rPr>
              <a:t>Finding Langston  by Lesa Cline-Ransome</a:t>
            </a:r>
            <a:endParaRPr lang="en-US" sz="2150" dirty="0"/>
          </a:p>
        </p:txBody>
      </p:sp>
      <p:sp>
        <p:nvSpPr>
          <p:cNvPr id="7" name="Text 5"/>
          <p:cNvSpPr/>
          <p:nvPr/>
        </p:nvSpPr>
        <p:spPr>
          <a:xfrm>
            <a:off x="502920" y="6400800"/>
            <a:ext cx="10515600" cy="274320"/>
          </a:xfrm>
          <a:prstGeom prst="rect">
            <a:avLst/>
          </a:prstGeom>
          <a:noFill/>
          <a:ln/>
        </p:spPr>
        <p:txBody>
          <a:bodyPr wrap="square" lIns="0" tIns="0" rIns="0" bIns="0" rtlCol="0" anchor="ctr"/>
          <a:lstStyle/>
          <a:p>
            <a:pPr indent="0" marL="0">
              <a:buNone/>
            </a:pPr>
            <a:r>
              <a:rPr lang="en-US" sz="1000" dirty="0">
                <a:solidFill>
                  <a:srgbClr val="9A8FD1"/>
                </a:solidFill>
                <a:latin typeface="Figtree" pitchFamily="34" charset="0"/>
                <a:ea typeface="Figtree" pitchFamily="34" charset="-122"/>
                <a:cs typeface="Figtree" pitchFamily="34" charset="-120"/>
              </a:rPr>
              <a:t>Copyright © 2026 Lavinia Group. All Rights Reserved. RedThread is a trademark of K12 Coalition.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502920"/>
            <a:ext cx="54864" cy="1234440"/>
          </a:xfrm>
          <a:prstGeom prst="rect">
            <a:avLst/>
          </a:prstGeom>
          <a:solidFill>
            <a:srgbClr val="3928AA"/>
          </a:solidFill>
          <a:ln/>
        </p:spPr>
      </p:sp>
      <p:sp>
        <p:nvSpPr>
          <p:cNvPr id="3" name="Shape 1"/>
          <p:cNvSpPr/>
          <p:nvPr/>
        </p:nvSpPr>
        <p:spPr>
          <a:xfrm>
            <a:off x="557784" y="502920"/>
            <a:ext cx="11064240" cy="1234440"/>
          </a:xfrm>
          <a:prstGeom prst="rect">
            <a:avLst/>
          </a:prstGeom>
          <a:solidFill>
            <a:srgbClr val="FFF3CB"/>
          </a:solidFill>
          <a:ln/>
        </p:spPr>
      </p:sp>
      <p:sp>
        <p:nvSpPr>
          <p:cNvPr id="4" name="Text 2"/>
          <p:cNvSpPr/>
          <p:nvPr/>
        </p:nvSpPr>
        <p:spPr>
          <a:xfrm>
            <a:off x="777240" y="640080"/>
            <a:ext cx="10698480" cy="274320"/>
          </a:xfrm>
          <a:prstGeom prst="rect">
            <a:avLst/>
          </a:prstGeom>
          <a:noFill/>
          <a:ln/>
        </p:spPr>
        <p:txBody>
          <a:bodyPr wrap="square" lIns="0" tIns="0" rIns="0" bIns="0" rtlCol="0" anchor="ctr"/>
          <a:lstStyle/>
          <a:p>
            <a:pPr indent="0" marL="0">
              <a:buNone/>
            </a:pPr>
            <a:r>
              <a:rPr lang="en-US" sz="1850" b="1" dirty="0">
                <a:solidFill>
                  <a:srgbClr val="3928AA"/>
                </a:solidFill>
                <a:latin typeface="Figtree" pitchFamily="34" charset="0"/>
                <a:ea typeface="Figtree" pitchFamily="34" charset="-122"/>
                <a:cs typeface="Figtree" pitchFamily="34" charset="-120"/>
              </a:rPr>
              <a:t>ESSENTIAL QUESTION</a:t>
            </a:r>
            <a:endParaRPr lang="en-US" sz="1850" dirty="0"/>
          </a:p>
        </p:txBody>
      </p:sp>
      <p:sp>
        <p:nvSpPr>
          <p:cNvPr id="5" name="Text 3"/>
          <p:cNvSpPr/>
          <p:nvPr/>
        </p:nvSpPr>
        <p:spPr>
          <a:xfrm>
            <a:off x="777240" y="960120"/>
            <a:ext cx="10698480" cy="731520"/>
          </a:xfrm>
          <a:prstGeom prst="rect">
            <a:avLst/>
          </a:prstGeom>
          <a:noFill/>
          <a:ln/>
        </p:spPr>
        <p:txBody>
          <a:bodyPr wrap="square" lIns="0" tIns="0" rIns="0" bIns="0" rtlCol="0" anchor="t"/>
          <a:lstStyle/>
          <a:p>
            <a:pPr indent="0" marL="0">
              <a:buNone/>
            </a:pPr>
            <a:r>
              <a:rPr lang="en-US" sz="2400" b="1" dirty="0">
                <a:solidFill>
                  <a:srgbClr val="0E0142"/>
                </a:solidFill>
                <a:latin typeface="Figtree" pitchFamily="34" charset="0"/>
                <a:ea typeface="Figtree" pitchFamily="34" charset="-122"/>
                <a:cs typeface="Figtree" pitchFamily="34" charset="-120"/>
              </a:rPr>
              <a:t>How can we understand characters by examining their responses to conflict?</a:t>
            </a:r>
            <a:endParaRPr lang="en-US" sz="2400" dirty="0"/>
          </a:p>
        </p:txBody>
      </p:sp>
      <p:sp>
        <p:nvSpPr>
          <p:cNvPr id="6" name="Shape 4"/>
          <p:cNvSpPr/>
          <p:nvPr/>
        </p:nvSpPr>
        <p:spPr>
          <a:xfrm>
            <a:off x="502920" y="1965960"/>
            <a:ext cx="5486400" cy="45720"/>
          </a:xfrm>
          <a:prstGeom prst="rect">
            <a:avLst/>
          </a:prstGeom>
          <a:solidFill>
            <a:srgbClr val="F19A65"/>
          </a:solidFill>
          <a:ln/>
        </p:spPr>
      </p:sp>
      <p:sp>
        <p:nvSpPr>
          <p:cNvPr id="7" name="Shape 5"/>
          <p:cNvSpPr/>
          <p:nvPr/>
        </p:nvSpPr>
        <p:spPr>
          <a:xfrm>
            <a:off x="502920" y="2011680"/>
            <a:ext cx="5486400" cy="4114800"/>
          </a:xfrm>
          <a:prstGeom prst="rect">
            <a:avLst/>
          </a:prstGeom>
          <a:solidFill>
            <a:srgbClr val="FFFFFF"/>
          </a:solidFill>
          <a:ln w="12700">
            <a:solidFill>
              <a:srgbClr val="E5EFF9"/>
            </a:solidFill>
            <a:prstDash val="solid"/>
          </a:ln>
        </p:spPr>
      </p:sp>
      <p:sp>
        <p:nvSpPr>
          <p:cNvPr id="8" name="Text 6"/>
          <p:cNvSpPr/>
          <p:nvPr/>
        </p:nvSpPr>
        <p:spPr>
          <a:xfrm>
            <a:off x="685800" y="2194560"/>
            <a:ext cx="5120640" cy="274320"/>
          </a:xfrm>
          <a:prstGeom prst="rect">
            <a:avLst/>
          </a:prstGeom>
          <a:noFill/>
          <a:ln/>
        </p:spPr>
        <p:txBody>
          <a:bodyPr wrap="square" lIns="0" tIns="0" rIns="0" bIns="0" rtlCol="0" anchor="ctr"/>
          <a:lstStyle/>
          <a:p>
            <a:pPr indent="0" marL="0">
              <a:buNone/>
            </a:pPr>
            <a:r>
              <a:rPr lang="en-US" sz="1850" b="1" dirty="0">
                <a:solidFill>
                  <a:srgbClr val="F19A65"/>
                </a:solidFill>
                <a:latin typeface="Figtree" pitchFamily="34" charset="0"/>
                <a:ea typeface="Figtree" pitchFamily="34" charset="-122"/>
                <a:cs typeface="Figtree" pitchFamily="34" charset="-120"/>
              </a:rPr>
              <a:t>TEACHING POINT</a:t>
            </a:r>
            <a:endParaRPr lang="en-US" sz="1850" dirty="0"/>
          </a:p>
        </p:txBody>
      </p:sp>
      <p:sp>
        <p:nvSpPr>
          <p:cNvPr id="9" name="Text 7"/>
          <p:cNvSpPr/>
          <p:nvPr/>
        </p:nvSpPr>
        <p:spPr>
          <a:xfrm>
            <a:off x="685800" y="2514600"/>
            <a:ext cx="5120640" cy="3429000"/>
          </a:xfrm>
          <a:prstGeom prst="rect">
            <a:avLst/>
          </a:prstGeom>
          <a:noFill/>
          <a:ln/>
        </p:spPr>
        <p:txBody>
          <a:bodyPr wrap="square" lIns="0" tIns="0" rIns="0" bIns="0" rtlCol="0" anchor="t"/>
          <a:lstStyle/>
          <a:p>
            <a:pPr indent="0" marL="0">
              <a:buNone/>
            </a:pPr>
            <a:r>
              <a:rPr lang="en-US" sz="2400" dirty="0">
                <a:solidFill>
                  <a:srgbClr val="33322E"/>
                </a:solidFill>
                <a:latin typeface="Figtree" pitchFamily="34" charset="0"/>
                <a:ea typeface="Figtree" pitchFamily="34" charset="-122"/>
                <a:cs typeface="Figtree" pitchFamily="34" charset="-120"/>
              </a:rPr>
              <a:t>Fiction readers know that a story's conflict changes as the narrative progresses. They track the conflict as the plot progresses and ask themselves, "How does the conflict develop and intensify?"</a:t>
            </a:r>
            <a:endParaRPr lang="en-US" sz="2400" dirty="0"/>
          </a:p>
        </p:txBody>
      </p:sp>
      <p:sp>
        <p:nvSpPr>
          <p:cNvPr id="10" name="Shape 8"/>
          <p:cNvSpPr/>
          <p:nvPr/>
        </p:nvSpPr>
        <p:spPr>
          <a:xfrm>
            <a:off x="6172200" y="1965960"/>
            <a:ext cx="5486400" cy="45720"/>
          </a:xfrm>
          <a:prstGeom prst="rect">
            <a:avLst/>
          </a:prstGeom>
          <a:solidFill>
            <a:srgbClr val="3928AA"/>
          </a:solidFill>
          <a:ln/>
        </p:spPr>
      </p:sp>
      <p:sp>
        <p:nvSpPr>
          <p:cNvPr id="11" name="Shape 9"/>
          <p:cNvSpPr/>
          <p:nvPr/>
        </p:nvSpPr>
        <p:spPr>
          <a:xfrm>
            <a:off x="6172200" y="2011680"/>
            <a:ext cx="5486400" cy="4114800"/>
          </a:xfrm>
          <a:prstGeom prst="rect">
            <a:avLst/>
          </a:prstGeom>
          <a:solidFill>
            <a:srgbClr val="F4F2FC"/>
          </a:solidFill>
          <a:ln w="12700">
            <a:solidFill>
              <a:srgbClr val="3928AA"/>
            </a:solidFill>
            <a:prstDash val="dash"/>
          </a:ln>
        </p:spPr>
      </p:sp>
      <p:sp>
        <p:nvSpPr>
          <p:cNvPr id="12" name="Text 10"/>
          <p:cNvSpPr/>
          <p:nvPr/>
        </p:nvSpPr>
        <p:spPr>
          <a:xfrm>
            <a:off x="6355080" y="2194560"/>
            <a:ext cx="5120640" cy="274320"/>
          </a:xfrm>
          <a:prstGeom prst="rect">
            <a:avLst/>
          </a:prstGeom>
          <a:noFill/>
          <a:ln/>
        </p:spPr>
        <p:txBody>
          <a:bodyPr wrap="square" lIns="0" tIns="0" rIns="0" bIns="0" rtlCol="0" anchor="ctr"/>
          <a:lstStyle/>
          <a:p>
            <a:pPr indent="0" marL="0">
              <a:buNone/>
            </a:pPr>
            <a:r>
              <a:rPr lang="en-US" sz="1850" b="1" dirty="0">
                <a:solidFill>
                  <a:srgbClr val="3928AA"/>
                </a:solidFill>
                <a:latin typeface="Figtree" pitchFamily="34" charset="0"/>
                <a:ea typeface="Figtree" pitchFamily="34" charset="-122"/>
                <a:cs typeface="Figtree" pitchFamily="34" charset="-120"/>
              </a:rPr>
              <a:t>LANGUAGE GOAL</a:t>
            </a:r>
            <a:endParaRPr lang="en-US" sz="1850" dirty="0"/>
          </a:p>
        </p:txBody>
      </p:sp>
      <p:sp>
        <p:nvSpPr>
          <p:cNvPr id="13" name="Text 11"/>
          <p:cNvSpPr/>
          <p:nvPr/>
        </p:nvSpPr>
        <p:spPr>
          <a:xfrm>
            <a:off x="6355080" y="2514600"/>
            <a:ext cx="5120640" cy="3429000"/>
          </a:xfrm>
          <a:prstGeom prst="rect">
            <a:avLst/>
          </a:prstGeom>
          <a:noFill/>
          <a:ln/>
        </p:spPr>
        <p:txBody>
          <a:bodyPr wrap="square" lIns="0" tIns="0" rIns="0" bIns="0" rtlCol="0" anchor="t"/>
          <a:lstStyle/>
          <a:p>
            <a:pPr indent="0" marL="0">
              <a:buNone/>
            </a:pPr>
            <a:r>
              <a:rPr lang="en-US" sz="1600" i="1" dirty="0">
                <a:solidFill>
                  <a:srgbClr val="6B6478"/>
                </a:solidFill>
                <a:latin typeface="Figtree" pitchFamily="34" charset="0"/>
                <a:ea typeface="Figtree" pitchFamily="34" charset="-122"/>
                <a:cs typeface="Figtree" pitchFamily="34" charset="-120"/>
              </a:rPr>
              <a:t>Not specified in this lesson's source material.</a:t>
            </a:r>
            <a:endParaRPr lang="en-US" sz="1600" dirty="0"/>
          </a:p>
        </p:txBody>
      </p:sp>
      <p:sp>
        <p:nvSpPr>
          <p:cNvPr id="14" name="Text 12"/>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5" name="Text 13"/>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Engage Vocabulary</a:t>
            </a:r>
            <a:endParaRPr lang="en-US" sz="3600" dirty="0"/>
          </a:p>
        </p:txBody>
      </p:sp>
      <p:sp>
        <p:nvSpPr>
          <p:cNvPr id="3" name="Shape 1"/>
          <p:cNvSpPr/>
          <p:nvPr/>
        </p:nvSpPr>
        <p:spPr>
          <a:xfrm>
            <a:off x="502920" y="1143000"/>
            <a:ext cx="5440680" cy="2468880"/>
          </a:xfrm>
          <a:prstGeom prst="roundRect">
            <a:avLst>
              <a:gd name="adj" fmla="val 2222"/>
            </a:avLst>
          </a:prstGeom>
          <a:solidFill>
            <a:srgbClr val="FFDBC5"/>
          </a:solidFill>
          <a:ln/>
        </p:spPr>
      </p:sp>
      <p:pic>
        <p:nvPicPr>
          <p:cNvPr id="4" name="Image 0" descr="Lesson_6a_S9.pptx_build_tmp/icons/develop.png">    </p:cNvPr>
          <p:cNvPicPr>
            <a:picLocks noChangeAspect="1"/>
          </p:cNvPicPr>
          <p:nvPr/>
        </p:nvPicPr>
        <p:blipFill>
          <a:blip r:embed="rId1"/>
          <a:stretch>
            <a:fillRect/>
          </a:stretch>
        </p:blipFill>
        <p:spPr>
          <a:xfrm>
            <a:off x="685800" y="1325880"/>
            <a:ext cx="502920" cy="502920"/>
          </a:xfrm>
          <a:prstGeom prst="rect">
            <a:avLst/>
          </a:prstGeom>
        </p:spPr>
      </p:pic>
      <p:sp>
        <p:nvSpPr>
          <p:cNvPr id="5" name="Text 2"/>
          <p:cNvSpPr/>
          <p:nvPr/>
        </p:nvSpPr>
        <p:spPr>
          <a:xfrm>
            <a:off x="1325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develop</a:t>
            </a:r>
            <a:endParaRPr lang="en-US" sz="2400" dirty="0"/>
          </a:p>
        </p:txBody>
      </p:sp>
      <p:sp>
        <p:nvSpPr>
          <p:cNvPr id="6" name="Text 3"/>
          <p:cNvSpPr/>
          <p:nvPr/>
        </p:nvSpPr>
        <p:spPr>
          <a:xfrm>
            <a:off x="685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become more complex, complete, or advanced. An idea is usually developed by presenting details that add to or change an understanding of a topic.</a:t>
            </a:r>
            <a:endParaRPr lang="en-US" sz="2150" dirty="0"/>
          </a:p>
        </p:txBody>
      </p:sp>
      <p:sp>
        <p:nvSpPr>
          <p:cNvPr id="7" name="Shape 4"/>
          <p:cNvSpPr/>
          <p:nvPr/>
        </p:nvSpPr>
        <p:spPr>
          <a:xfrm>
            <a:off x="6217920" y="1143000"/>
            <a:ext cx="5440680" cy="2468880"/>
          </a:xfrm>
          <a:prstGeom prst="roundRect">
            <a:avLst>
              <a:gd name="adj" fmla="val 2222"/>
            </a:avLst>
          </a:prstGeom>
          <a:solidFill>
            <a:srgbClr val="FFDBC5"/>
          </a:solidFill>
          <a:ln/>
        </p:spPr>
      </p:sp>
      <p:pic>
        <p:nvPicPr>
          <p:cNvPr id="8" name="Image 1" descr="Lesson_6a_S9.pptx_build_tmp/icons/progress.png">    </p:cNvPr>
          <p:cNvPicPr>
            <a:picLocks noChangeAspect="1"/>
          </p:cNvPicPr>
          <p:nvPr/>
        </p:nvPicPr>
        <p:blipFill>
          <a:blip r:embed="rId2"/>
          <a:stretch>
            <a:fillRect/>
          </a:stretch>
        </p:blipFill>
        <p:spPr>
          <a:xfrm>
            <a:off x="6400800" y="1325880"/>
            <a:ext cx="502920" cy="502920"/>
          </a:xfrm>
          <a:prstGeom prst="rect">
            <a:avLst/>
          </a:prstGeom>
        </p:spPr>
      </p:pic>
      <p:sp>
        <p:nvSpPr>
          <p:cNvPr id="9" name="Text 5"/>
          <p:cNvSpPr/>
          <p:nvPr/>
        </p:nvSpPr>
        <p:spPr>
          <a:xfrm>
            <a:off x="7040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progress</a:t>
            </a:r>
            <a:endParaRPr lang="en-US" sz="2400" dirty="0"/>
          </a:p>
        </p:txBody>
      </p:sp>
      <p:sp>
        <p:nvSpPr>
          <p:cNvPr id="10" name="Text 6"/>
          <p:cNvSpPr/>
          <p:nvPr/>
        </p:nvSpPr>
        <p:spPr>
          <a:xfrm>
            <a:off x="6400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move forward into a new phase.</a:t>
            </a:r>
            <a:endParaRPr lang="en-US" sz="2150" dirty="0"/>
          </a:p>
        </p:txBody>
      </p:sp>
      <p:sp>
        <p:nvSpPr>
          <p:cNvPr id="11" name="Shape 7"/>
          <p:cNvSpPr/>
          <p:nvPr/>
        </p:nvSpPr>
        <p:spPr>
          <a:xfrm>
            <a:off x="502920" y="3749040"/>
            <a:ext cx="5440680" cy="2468880"/>
          </a:xfrm>
          <a:prstGeom prst="roundRect">
            <a:avLst>
              <a:gd name="adj" fmla="val 2222"/>
            </a:avLst>
          </a:prstGeom>
          <a:solidFill>
            <a:srgbClr val="FFDBC5"/>
          </a:solidFill>
          <a:ln/>
        </p:spPr>
      </p:sp>
      <p:pic>
        <p:nvPicPr>
          <p:cNvPr id="12" name="Image 2" descr="Lesson_6a_S9.pptx_build_tmp/icons/intensify.png">    </p:cNvPr>
          <p:cNvPicPr>
            <a:picLocks noChangeAspect="1"/>
          </p:cNvPicPr>
          <p:nvPr/>
        </p:nvPicPr>
        <p:blipFill>
          <a:blip r:embed="rId3"/>
          <a:stretch>
            <a:fillRect/>
          </a:stretch>
        </p:blipFill>
        <p:spPr>
          <a:xfrm>
            <a:off x="685800" y="3931920"/>
            <a:ext cx="502920" cy="502920"/>
          </a:xfrm>
          <a:prstGeom prst="rect">
            <a:avLst/>
          </a:prstGeom>
        </p:spPr>
      </p:pic>
      <p:sp>
        <p:nvSpPr>
          <p:cNvPr id="13" name="Text 8"/>
          <p:cNvSpPr/>
          <p:nvPr/>
        </p:nvSpPr>
        <p:spPr>
          <a:xfrm>
            <a:off x="1325880" y="395020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intensify</a:t>
            </a:r>
            <a:endParaRPr lang="en-US" sz="2400" dirty="0"/>
          </a:p>
        </p:txBody>
      </p:sp>
      <p:sp>
        <p:nvSpPr>
          <p:cNvPr id="14" name="Text 9"/>
          <p:cNvSpPr/>
          <p:nvPr/>
        </p:nvSpPr>
        <p:spPr>
          <a:xfrm>
            <a:off x="685800" y="466344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grow stronger or more serious.</a:t>
            </a:r>
            <a:endParaRPr lang="en-US" sz="2150" dirty="0"/>
          </a:p>
        </p:txBody>
      </p:sp>
      <p:sp>
        <p:nvSpPr>
          <p:cNvPr id="15" name="Text 10"/>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6" name="Text 11"/>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platform_verify/assets/decorative_bg.png">    </p:cNvPr>
          <p:cNvPicPr>
            <a:picLocks noChangeAspect="1"/>
          </p:cNvPicPr>
          <p:nvPr/>
        </p:nvPicPr>
        <p:blipFill>
          <a:blip r:embed="rId1"/>
          <a:stretch>
            <a:fillRect/>
          </a:stretch>
        </p:blipFill>
        <p:spPr>
          <a:xfrm>
            <a:off x="7284750" y="0"/>
            <a:ext cx="4876770" cy="4207886"/>
          </a:xfrm>
          <a:prstGeom prst="rect">
            <a:avLst/>
          </a:prstGeom>
        </p:spPr>
      </p:pic>
      <p:sp>
        <p:nvSpPr>
          <p:cNvPr id="3"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Launch Vocabulary</a:t>
            </a:r>
            <a:endParaRPr lang="en-US" sz="3600" dirty="0"/>
          </a:p>
        </p:txBody>
      </p:sp>
      <p:sp>
        <p:nvSpPr>
          <p:cNvPr id="4" name="Shape 1"/>
          <p:cNvSpPr/>
          <p:nvPr/>
        </p:nvSpPr>
        <p:spPr>
          <a:xfrm>
            <a:off x="502920" y="1143000"/>
            <a:ext cx="5440680" cy="2468880"/>
          </a:xfrm>
          <a:prstGeom prst="roundRect">
            <a:avLst>
              <a:gd name="adj" fmla="val 2222"/>
            </a:avLst>
          </a:prstGeom>
          <a:solidFill>
            <a:srgbClr val="FFDBC5"/>
          </a:solidFill>
          <a:ln/>
        </p:spPr>
      </p:sp>
      <p:pic>
        <p:nvPicPr>
          <p:cNvPr id="5" name="Image 1" descr="Lesson_6a_S9.pptx_build_tmp/icons/internal.png">    </p:cNvPr>
          <p:cNvPicPr>
            <a:picLocks noChangeAspect="1"/>
          </p:cNvPicPr>
          <p:nvPr/>
        </p:nvPicPr>
        <p:blipFill>
          <a:blip r:embed="rId2"/>
          <a:stretch>
            <a:fillRect/>
          </a:stretch>
        </p:blipFill>
        <p:spPr>
          <a:xfrm>
            <a:off x="685800" y="1325880"/>
            <a:ext cx="502920" cy="502920"/>
          </a:xfrm>
          <a:prstGeom prst="rect">
            <a:avLst/>
          </a:prstGeom>
        </p:spPr>
      </p:pic>
      <p:sp>
        <p:nvSpPr>
          <p:cNvPr id="6" name="Text 2"/>
          <p:cNvSpPr/>
          <p:nvPr/>
        </p:nvSpPr>
        <p:spPr>
          <a:xfrm>
            <a:off x="1325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internal</a:t>
            </a:r>
            <a:endParaRPr lang="en-US" sz="2400" dirty="0"/>
          </a:p>
        </p:txBody>
      </p:sp>
      <p:sp>
        <p:nvSpPr>
          <p:cNvPr id="7" name="Text 3"/>
          <p:cNvSpPr/>
          <p:nvPr/>
        </p:nvSpPr>
        <p:spPr>
          <a:xfrm>
            <a:off x="685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Coming from inside of oneself.</a:t>
            </a:r>
            <a:endParaRPr lang="en-US" sz="2150" dirty="0"/>
          </a:p>
        </p:txBody>
      </p:sp>
      <p:sp>
        <p:nvSpPr>
          <p:cNvPr id="8" name="Shape 4"/>
          <p:cNvSpPr/>
          <p:nvPr/>
        </p:nvSpPr>
        <p:spPr>
          <a:xfrm>
            <a:off x="6217920" y="1143000"/>
            <a:ext cx="5440680" cy="2468880"/>
          </a:xfrm>
          <a:prstGeom prst="roundRect">
            <a:avLst>
              <a:gd name="adj" fmla="val 2222"/>
            </a:avLst>
          </a:prstGeom>
          <a:solidFill>
            <a:srgbClr val="FFDBC5"/>
          </a:solidFill>
          <a:ln/>
        </p:spPr>
      </p:sp>
      <p:pic>
        <p:nvPicPr>
          <p:cNvPr id="9" name="Image 2" descr="Lesson_6a_S9.pptx_build_tmp/icons/external.png">    </p:cNvPr>
          <p:cNvPicPr>
            <a:picLocks noChangeAspect="1"/>
          </p:cNvPicPr>
          <p:nvPr/>
        </p:nvPicPr>
        <p:blipFill>
          <a:blip r:embed="rId3"/>
          <a:stretch>
            <a:fillRect/>
          </a:stretch>
        </p:blipFill>
        <p:spPr>
          <a:xfrm>
            <a:off x="6400800" y="1325880"/>
            <a:ext cx="502920" cy="502920"/>
          </a:xfrm>
          <a:prstGeom prst="rect">
            <a:avLst/>
          </a:prstGeom>
        </p:spPr>
      </p:pic>
      <p:sp>
        <p:nvSpPr>
          <p:cNvPr id="10" name="Text 5"/>
          <p:cNvSpPr/>
          <p:nvPr/>
        </p:nvSpPr>
        <p:spPr>
          <a:xfrm>
            <a:off x="7040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external</a:t>
            </a:r>
            <a:endParaRPr lang="en-US" sz="2400" dirty="0"/>
          </a:p>
        </p:txBody>
      </p:sp>
      <p:sp>
        <p:nvSpPr>
          <p:cNvPr id="11" name="Text 6"/>
          <p:cNvSpPr/>
          <p:nvPr/>
        </p:nvSpPr>
        <p:spPr>
          <a:xfrm>
            <a:off x="6400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Coming from outside of oneself.</a:t>
            </a:r>
            <a:endParaRPr lang="en-US" sz="2150" dirty="0"/>
          </a:p>
        </p:txBody>
      </p:sp>
      <p:sp>
        <p:nvSpPr>
          <p:cNvPr id="12" name="Shape 7"/>
          <p:cNvSpPr/>
          <p:nvPr/>
        </p:nvSpPr>
        <p:spPr>
          <a:xfrm>
            <a:off x="502920" y="3749040"/>
            <a:ext cx="5440680" cy="2468880"/>
          </a:xfrm>
          <a:prstGeom prst="roundRect">
            <a:avLst>
              <a:gd name="adj" fmla="val 2222"/>
            </a:avLst>
          </a:prstGeom>
          <a:solidFill>
            <a:srgbClr val="FFDBC5"/>
          </a:solidFill>
          <a:ln/>
        </p:spPr>
      </p:sp>
      <p:pic>
        <p:nvPicPr>
          <p:cNvPr id="13" name="Image 3" descr="Lesson_6a_S9.pptx_build_tmp/icons/isolated.png">    </p:cNvPr>
          <p:cNvPicPr>
            <a:picLocks noChangeAspect="1"/>
          </p:cNvPicPr>
          <p:nvPr/>
        </p:nvPicPr>
        <p:blipFill>
          <a:blip r:embed="rId4"/>
          <a:stretch>
            <a:fillRect/>
          </a:stretch>
        </p:blipFill>
        <p:spPr>
          <a:xfrm>
            <a:off x="685800" y="3931920"/>
            <a:ext cx="502920" cy="502920"/>
          </a:xfrm>
          <a:prstGeom prst="rect">
            <a:avLst/>
          </a:prstGeom>
        </p:spPr>
      </p:pic>
      <p:sp>
        <p:nvSpPr>
          <p:cNvPr id="14" name="Text 8"/>
          <p:cNvSpPr/>
          <p:nvPr/>
        </p:nvSpPr>
        <p:spPr>
          <a:xfrm>
            <a:off x="1325880" y="395020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isolated</a:t>
            </a:r>
            <a:endParaRPr lang="en-US" sz="2400" dirty="0"/>
          </a:p>
        </p:txBody>
      </p:sp>
      <p:sp>
        <p:nvSpPr>
          <p:cNvPr id="15" name="Text 9"/>
          <p:cNvSpPr/>
          <p:nvPr/>
        </p:nvSpPr>
        <p:spPr>
          <a:xfrm>
            <a:off x="685800" y="466344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Feeling distant and far from others. Feeling isolated often means you feel like you have to rely on yourself without the help of others.</a:t>
            </a:r>
            <a:endParaRPr lang="en-US" sz="2150" dirty="0"/>
          </a:p>
        </p:txBody>
      </p:sp>
      <p:sp>
        <p:nvSpPr>
          <p:cNvPr id="16" name="Text 10"/>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7" name="Text 11"/>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Launch Chart</a:t>
            </a:r>
            <a:endParaRPr lang="en-US" sz="3600" dirty="0"/>
          </a:p>
        </p:txBody>
      </p:sp>
      <p:sp>
        <p:nvSpPr>
          <p:cNvPr id="3" name="Text 1"/>
          <p:cNvSpPr/>
          <p:nvPr/>
        </p:nvSpPr>
        <p:spPr>
          <a:xfrm>
            <a:off x="502920" y="1051560"/>
            <a:ext cx="11155680" cy="36576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Read pages 46–50 of Finding Langston by Lesa Cline-Ransome.</a:t>
            </a:r>
            <a:endParaRPr lang="en-US" sz="2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4800600"/>
        </p:xfrm>
        <a:graphic>
          <a:graphicData uri="http://schemas.openxmlformats.org/drawingml/2006/table">
            <a:tbl>
              <a:tblPr/>
              <a:tblGrid>
                <a:gridCol w="5577840"/>
                <a:gridCol w="5577840"/>
              </a:tblGrid>
              <a:tr h="411480">
                <a:tc>
                  <a:txBody>
                    <a:bodyPr/>
                    <a:lstStyle/>
                    <a:p>
                      <a:pPr algn="l" indent="0" marL="0">
                        <a:buNone/>
                      </a:pPr>
                      <a:r>
                        <a:rPr lang="en-US" sz="1400" b="1" dirty="0">
                          <a:solidFill>
                            <a:srgbClr val="FFFFFF"/>
                          </a:solidFill>
                          <a:latin typeface="Figtree" pitchFamily="34" charset="0"/>
                          <a:ea typeface="Figtree" pitchFamily="34" charset="-122"/>
                          <a:cs typeface="Figtree" pitchFamily="34" charset="-120"/>
                        </a:rPr>
                        <a:t>Event</a:t>
                      </a:r>
                      <a:endParaRPr lang="en-US" sz="1400" dirty="0">
                        <a:latin typeface="Figtree" charset="0"/>
                        <a:ea typeface="Figtree" charset="0"/>
                        <a:cs typeface="Figtree" charset="0"/>
                      </a:endParaRPr>
                    </a:p>
                  </a:txBody>
                  <a:tcPr marL="91440" marR="91440" marT="45720" marB="45720" anchor="ctr">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3928AA"/>
                    </a:solidFill>
                  </a:tcPr>
                </a:tc>
                <a:tc>
                  <a:txBody>
                    <a:bodyPr/>
                    <a:lstStyle/>
                    <a:p>
                      <a:pPr algn="l" indent="0" marL="0">
                        <a:buNone/>
                      </a:pPr>
                      <a:r>
                        <a:rPr lang="en-US" sz="1400" b="1" dirty="0">
                          <a:solidFill>
                            <a:srgbClr val="FFFFFF"/>
                          </a:solidFill>
                          <a:latin typeface="Figtree" pitchFamily="34" charset="0"/>
                          <a:ea typeface="Figtree" pitchFamily="34" charset="-122"/>
                          <a:cs typeface="Figtree" pitchFamily="34" charset="-120"/>
                        </a:rPr>
                        <a:t>How the Conflict Develops or Intensifies</a:t>
                      </a:r>
                      <a:endParaRPr lang="en-US" sz="1400" dirty="0">
                        <a:latin typeface="Figtree" charset="0"/>
                        <a:ea typeface="Figtree" charset="0"/>
                        <a:cs typeface="Figtree" charset="0"/>
                      </a:endParaRPr>
                    </a:p>
                  </a:txBody>
                  <a:tcPr marL="91440" marR="91440" marT="45720" marB="45720" anchor="ctr">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3928AA"/>
                    </a:solidFill>
                  </a:tcPr>
                </a:tc>
              </a:tr>
              <a:tr h="1463040">
                <a:tc>
                  <a:txBody>
                    <a:bodyPr/>
                    <a:lstStyle/>
                    <a:p>
                      <a:pPr indent="0" marL="0">
                        <a:buNone/>
                      </a:pPr>
                      <a:r>
                        <a:rPr lang="en-US" sz="1300" dirty="0">
                          <a:solidFill>
                            <a:srgbClr val="33322E"/>
                          </a:solidFill>
                          <a:latin typeface="Figtree" pitchFamily="34" charset="0"/>
                          <a:ea typeface="Figtree" pitchFamily="34" charset="-122"/>
                          <a:cs typeface="Figtree" pitchFamily="34" charset="-120"/>
                        </a:rPr>
                        <a:t>Langston focuses on memories of mother and Alabama. Not focusing on Chicago because he is so sad over his mother's death and missing his old life.</a:t>
                      </a: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FFFF"/>
                    </a:solidFill>
                  </a:tcPr>
                </a:tc>
                <a:tc>
                  <a:txBody>
                    <a:bodyPr/>
                    <a:lstStyle/>
                    <a:p>
                      <a:pPr indent="0" marL="0">
                        <a:buNone/>
                      </a:pPr>
                      <a:r>
                        <a:rPr lang="en-US" sz="1300" dirty="0">
                          <a:solidFill>
                            <a:srgbClr val="33322E"/>
                          </a:solidFill>
                          <a:latin typeface="Figtree" pitchFamily="34" charset="0"/>
                          <a:ea typeface="Figtree" pitchFamily="34" charset="-122"/>
                          <a:cs typeface="Figtree" pitchFamily="34" charset="-120"/>
                        </a:rPr>
                        <a:t>Langston struggles even more to fit in at school because instead of paying attention and focusing on starting a new life in Chicago, he constantly thinks about his sadness over his mother's death and life in Alabama he misses.</a:t>
                      </a: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FFFF"/>
                    </a:solidFill>
                  </a:tcPr>
                </a:tc>
              </a:tr>
              <a:tr h="1463040">
                <a:tc>
                  <a:txBody>
                    <a:bodyPr/>
                    <a:lstStyle/>
                    <a:p>
                      <a:pPr indent="0" marL="0">
                        <a:buNone/>
                      </a:pPr>
                      <a:r>
                        <a:rPr lang="en-US" sz="1300" dirty="0">
                          <a:solidFill>
                            <a:srgbClr val="33322E"/>
                          </a:solidFill>
                          <a:latin typeface="Figtree" pitchFamily="34" charset="0"/>
                          <a:ea typeface="Figtree" pitchFamily="34" charset="-122"/>
                          <a:cs typeface="Figtree" pitchFamily="34" charset="-120"/>
                        </a:rPr>
                        <a:t>Bullies at school are now violent and hit him. Hint that they will hurt him more.</a:t>
                      </a: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DBC5"/>
                    </a:solidFill>
                  </a:tcPr>
                </a:tc>
                <a:tc>
                  <a:txBody>
                    <a:bodyPr/>
                    <a:lstStyle/>
                    <a:p>
                      <a:pPr indent="0" marL="0">
                        <a:buNone/>
                      </a:pPr>
                      <a:r>
                        <a:rPr lang="en-US" sz="1300" dirty="0">
                          <a:solidFill>
                            <a:srgbClr val="33322E"/>
                          </a:solidFill>
                          <a:latin typeface="Figtree" pitchFamily="34" charset="0"/>
                          <a:ea typeface="Figtree" pitchFamily="34" charset="-122"/>
                          <a:cs typeface="Figtree" pitchFamily="34" charset="-120"/>
                        </a:rPr>
                        <a:t>Conflict intensifies as Langston is afraid to go to school and cannot escape to his memories of Alabama and his mother. Makes Langston feel miserable.</a:t>
                      </a: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DBC5"/>
                    </a:solidFill>
                  </a:tcPr>
                </a:tc>
              </a:tr>
              <a:tr h="1463040">
                <a:tc>
                  <a:txBody>
                    <a:bodyPr/>
                    <a:lstStyle/>
                    <a:p>
                      <a:pPr indent="0" marL="0">
                        <a:buNone/>
                      </a:pPr>
                      <a:r>
                        <a:rPr lang="en-US" sz="1300" dirty="0">
                          <a:solidFill>
                            <a:srgbClr val="33322E"/>
                          </a:solidFill>
                          <a:latin typeface="Figtree" pitchFamily="34" charset="0"/>
                          <a:ea typeface="Figtree" pitchFamily="34" charset="-122"/>
                          <a:cs typeface="Figtree" pitchFamily="34" charset="-120"/>
                        </a:rPr>
                        <a:t>Cannot share the bullying with his only parent—his dad—or the only neighbor who knows him—Miss Fulton. Teachers do not protect Langston from bullies.</a:t>
                      </a: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FFFF"/>
                    </a:solidFill>
                  </a:tcPr>
                </a:tc>
                <a:tc>
                  <a:txBody>
                    <a:bodyPr/>
                    <a:lstStyle/>
                    <a:p>
                      <a:pPr indent="0" marL="0">
                        <a:buNone/>
                      </a:pPr>
                      <a:r>
                        <a:rPr lang="en-US" sz="1300" dirty="0">
                          <a:solidFill>
                            <a:srgbClr val="33322E"/>
                          </a:solidFill>
                          <a:latin typeface="Figtree" pitchFamily="34" charset="0"/>
                          <a:ea typeface="Figtree" pitchFamily="34" charset="-122"/>
                          <a:cs typeface="Figtree" pitchFamily="34" charset="-120"/>
                        </a:rPr>
                        <a:t>Langston's loneliness intensifies as he feels he does not have anyone to help him, even when he is in fear of his physical safety. Conflict develops because not only does Langston feel isolated, he starts to feel hopeless that the upcoming days at school will get worse.</a:t>
                      </a: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6" name="Text 3"/>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Independent Reading</a:t>
            </a:r>
            <a:endParaRPr lang="en-US" sz="3600" dirty="0"/>
          </a:p>
        </p:txBody>
      </p:sp>
      <p:sp>
        <p:nvSpPr>
          <p:cNvPr id="3" name="Text 1"/>
          <p:cNvSpPr/>
          <p:nvPr/>
        </p:nvSpPr>
        <p:spPr>
          <a:xfrm>
            <a:off x="502920" y="1005840"/>
            <a:ext cx="6035040" cy="320040"/>
          </a:xfrm>
          <a:prstGeom prst="rect">
            <a:avLst/>
          </a:prstGeom>
          <a:noFill/>
          <a:ln/>
        </p:spPr>
        <p:txBody>
          <a:bodyPr wrap="square" lIns="0" tIns="0" rIns="0" bIns="0" rtlCol="0" anchor="ctr"/>
          <a:lstStyle/>
          <a:p>
            <a:pPr indent="0" marL="0">
              <a:buNone/>
            </a:pPr>
            <a:r>
              <a:rPr lang="en-US" sz="2000" b="1" dirty="0">
                <a:solidFill>
                  <a:srgbClr val="F19A65"/>
                </a:solidFill>
                <a:latin typeface="Figtree" pitchFamily="34" charset="0"/>
                <a:ea typeface="Figtree" pitchFamily="34" charset="-122"/>
                <a:cs typeface="Figtree" pitchFamily="34" charset="-120"/>
              </a:rPr>
              <a:t>TEACHING POINT</a:t>
            </a:r>
            <a:endParaRPr lang="en-US" sz="2000" dirty="0"/>
          </a:p>
        </p:txBody>
      </p:sp>
      <p:sp>
        <p:nvSpPr>
          <p:cNvPr id="4" name="Text 2"/>
          <p:cNvSpPr/>
          <p:nvPr/>
        </p:nvSpPr>
        <p:spPr>
          <a:xfrm>
            <a:off x="502920" y="1371600"/>
            <a:ext cx="6035040" cy="1051560"/>
          </a:xfrm>
          <a:prstGeom prst="rect">
            <a:avLst/>
          </a:prstGeom>
          <a:noFill/>
          <a:ln/>
        </p:spPr>
        <p:txBody>
          <a:bodyPr wrap="square" lIns="0" tIns="0" rIns="0" bIns="0" rtlCol="0" anchor="t"/>
          <a:lstStyle/>
          <a:p>
            <a:pPr indent="0" marL="0">
              <a:buNone/>
            </a:pPr>
            <a:r>
              <a:rPr lang="en-US" sz="1600" dirty="0">
                <a:solidFill>
                  <a:srgbClr val="33322E"/>
                </a:solidFill>
                <a:latin typeface="Figtree" pitchFamily="34" charset="0"/>
                <a:ea typeface="Figtree" pitchFamily="34" charset="-122"/>
                <a:cs typeface="Figtree" pitchFamily="34" charset="-120"/>
              </a:rPr>
              <a:t>Fiction readers know that a story's conflict changes as the narrative progresses. They track the conflict as the plot progresses and ask themselves, "How does the conflict develop and intensify?"</a:t>
            </a:r>
            <a:endParaRPr lang="en-US" sz="1600" dirty="0"/>
          </a:p>
        </p:txBody>
      </p:sp>
      <p:sp>
        <p:nvSpPr>
          <p:cNvPr id="5" name="Shape 3"/>
          <p:cNvSpPr/>
          <p:nvPr/>
        </p:nvSpPr>
        <p:spPr>
          <a:xfrm>
            <a:off x="502920" y="2514600"/>
            <a:ext cx="6035040" cy="914400"/>
          </a:xfrm>
          <a:prstGeom prst="roundRect">
            <a:avLst>
              <a:gd name="adj" fmla="val 6000"/>
            </a:avLst>
          </a:prstGeom>
          <a:solidFill>
            <a:srgbClr val="FBE8AB"/>
          </a:solidFill>
          <a:ln/>
        </p:spPr>
      </p:sp>
      <p:sp>
        <p:nvSpPr>
          <p:cNvPr id="6" name="Text 4"/>
          <p:cNvSpPr/>
          <p:nvPr/>
        </p:nvSpPr>
        <p:spPr>
          <a:xfrm>
            <a:off x="685800" y="2606040"/>
            <a:ext cx="5669280" cy="731520"/>
          </a:xfrm>
          <a:prstGeom prst="rect">
            <a:avLst/>
          </a:prstGeom>
          <a:noFill/>
          <a:ln/>
        </p:spPr>
        <p:txBody>
          <a:bodyPr wrap="square" lIns="0" tIns="0" rIns="0" bIns="0" rtlCol="0" anchor="t"/>
          <a:lstStyle/>
          <a:p>
            <a:pPr indent="0" marL="0">
              <a:buNone/>
            </a:pPr>
            <a:r>
              <a:rPr lang="en-US" sz="1600" dirty="0">
                <a:solidFill>
                  <a:srgbClr val="0E0142"/>
                </a:solidFill>
                <a:latin typeface="Figtree" pitchFamily="34" charset="0"/>
                <a:ea typeface="Figtree" pitchFamily="34" charset="-122"/>
                <a:cs typeface="Figtree" pitchFamily="34" charset="-120"/>
              </a:rPr>
              <a:t>Read pages 51–55 of Finding Langston by Lesa Cline-Ransome. Take notes in your Unit Portfolio as you read.</a:t>
            </a:r>
            <a:endParaRPr lang="en-US" sz="1600" dirty="0"/>
          </a:p>
        </p:txBody>
      </p:sp>
      <p:sp>
        <p:nvSpPr>
          <p:cNvPr id="7" name="Text 5"/>
          <p:cNvSpPr/>
          <p:nvPr/>
        </p:nvSpPr>
        <p:spPr>
          <a:xfrm>
            <a:off x="502920" y="3566160"/>
            <a:ext cx="6035040" cy="320040"/>
          </a:xfrm>
          <a:prstGeom prst="rect">
            <a:avLst/>
          </a:prstGeom>
          <a:noFill/>
          <a:ln/>
        </p:spPr>
        <p:txBody>
          <a:bodyPr wrap="square" lIns="0" tIns="0" rIns="0" bIns="0" rtlCol="0" anchor="ctr"/>
          <a:lstStyle/>
          <a:p>
            <a:pPr indent="0" marL="0">
              <a:buNone/>
            </a:pPr>
            <a:r>
              <a:rPr lang="en-US" sz="2000" b="1" dirty="0">
                <a:solidFill>
                  <a:srgbClr val="F19A65"/>
                </a:solidFill>
                <a:latin typeface="Figtree" pitchFamily="34" charset="0"/>
                <a:ea typeface="Figtree" pitchFamily="34" charset="-122"/>
                <a:cs typeface="Figtree" pitchFamily="34" charset="-120"/>
              </a:rPr>
              <a:t>IMPORTANT VOCABULARY</a:t>
            </a:r>
            <a:endParaRPr lang="en-US" sz="2000" dirty="0"/>
          </a:p>
        </p:txBody>
      </p:sp>
      <p:sp>
        <p:nvSpPr>
          <p:cNvPr id="8" name="Shape 6"/>
          <p:cNvSpPr/>
          <p:nvPr/>
        </p:nvSpPr>
        <p:spPr>
          <a:xfrm>
            <a:off x="548640" y="4041648"/>
            <a:ext cx="100584" cy="100584"/>
          </a:xfrm>
          <a:prstGeom prst="ellipse">
            <a:avLst/>
          </a:prstGeom>
          <a:solidFill>
            <a:srgbClr val="9343F6"/>
          </a:solidFill>
          <a:ln/>
        </p:spPr>
      </p:sp>
      <p:sp>
        <p:nvSpPr>
          <p:cNvPr id="9" name="Text 7"/>
          <p:cNvSpPr/>
          <p:nvPr/>
        </p:nvSpPr>
        <p:spPr>
          <a:xfrm>
            <a:off x="777240" y="3950208"/>
            <a:ext cx="5760720" cy="594360"/>
          </a:xfrm>
          <a:prstGeom prst="rect">
            <a:avLst/>
          </a:prstGeom>
          <a:noFill/>
          <a:ln/>
        </p:spPr>
        <p:txBody>
          <a:bodyPr wrap="square" lIns="0" tIns="0" rIns="0" bIns="0" rtlCol="0" anchor="t"/>
          <a:lstStyle/>
          <a:p>
            <a:pPr indent="0" marL="0">
              <a:buNone/>
            </a:pPr>
            <a:r>
              <a:rPr lang="en-US" sz="1600" b="1" dirty="0">
                <a:solidFill>
                  <a:srgbClr val="0E0142"/>
                </a:solidFill>
                <a:latin typeface="Figtree" pitchFamily="34" charset="0"/>
                <a:ea typeface="Figtree" pitchFamily="34" charset="-122"/>
                <a:cs typeface="Figtree" pitchFamily="34" charset="-120"/>
              </a:rPr>
              <a:t>handkerchief: </a:t>
            </a:r>
            <a:pPr indent="0" marL="0">
              <a:buNone/>
            </a:pPr>
            <a:r>
              <a:rPr lang="en-US" sz="1600" dirty="0">
                <a:solidFill>
                  <a:srgbClr val="33322E"/>
                </a:solidFill>
                <a:latin typeface="Figtree" pitchFamily="34" charset="0"/>
                <a:ea typeface="Figtree" pitchFamily="34" charset="-122"/>
                <a:cs typeface="Figtree" pitchFamily="34" charset="-120"/>
              </a:rPr>
              <a:t>A small square cloth used for wiping the nose or mouth.</a:t>
            </a:r>
            <a:endParaRPr lang="en-US" sz="1600" dirty="0"/>
          </a:p>
        </p:txBody>
      </p:sp>
      <p:sp>
        <p:nvSpPr>
          <p:cNvPr id="10" name="Shape 8"/>
          <p:cNvSpPr/>
          <p:nvPr/>
        </p:nvSpPr>
        <p:spPr>
          <a:xfrm>
            <a:off x="548640" y="4645152"/>
            <a:ext cx="100584" cy="100584"/>
          </a:xfrm>
          <a:prstGeom prst="ellipse">
            <a:avLst/>
          </a:prstGeom>
          <a:solidFill>
            <a:srgbClr val="9343F6"/>
          </a:solidFill>
          <a:ln/>
        </p:spPr>
      </p:sp>
      <p:sp>
        <p:nvSpPr>
          <p:cNvPr id="11" name="Text 9"/>
          <p:cNvSpPr/>
          <p:nvPr/>
        </p:nvSpPr>
        <p:spPr>
          <a:xfrm>
            <a:off x="777240" y="4553712"/>
            <a:ext cx="5760720" cy="594360"/>
          </a:xfrm>
          <a:prstGeom prst="rect">
            <a:avLst/>
          </a:prstGeom>
          <a:noFill/>
          <a:ln/>
        </p:spPr>
        <p:txBody>
          <a:bodyPr wrap="square" lIns="0" tIns="0" rIns="0" bIns="0" rtlCol="0" anchor="t"/>
          <a:lstStyle/>
          <a:p>
            <a:pPr indent="0" marL="0">
              <a:buNone/>
            </a:pPr>
            <a:r>
              <a:rPr lang="en-US" sz="1600" b="1" dirty="0">
                <a:solidFill>
                  <a:srgbClr val="0E0142"/>
                </a:solidFill>
                <a:latin typeface="Figtree" pitchFamily="34" charset="0"/>
                <a:ea typeface="Figtree" pitchFamily="34" charset="-122"/>
                <a:cs typeface="Figtree" pitchFamily="34" charset="-120"/>
              </a:rPr>
              <a:t>plot (of land): </a:t>
            </a:r>
            <a:pPr indent="0" marL="0">
              <a:buNone/>
            </a:pPr>
            <a:r>
              <a:rPr lang="en-US" sz="1600" dirty="0">
                <a:solidFill>
                  <a:srgbClr val="33322E"/>
                </a:solidFill>
                <a:latin typeface="Figtree" pitchFamily="34" charset="0"/>
                <a:ea typeface="Figtree" pitchFamily="34" charset="-122"/>
                <a:cs typeface="Figtree" pitchFamily="34" charset="-120"/>
              </a:rPr>
              <a:t>A piece of land.</a:t>
            </a:r>
            <a:endParaRPr lang="en-US" sz="1600" dirty="0"/>
          </a:p>
        </p:txBody>
      </p:sp>
      <p:sp>
        <p:nvSpPr>
          <p:cNvPr id="12" name="Shape 10"/>
          <p:cNvSpPr/>
          <p:nvPr/>
        </p:nvSpPr>
        <p:spPr>
          <a:xfrm>
            <a:off x="548640" y="5248656"/>
            <a:ext cx="100584" cy="100584"/>
          </a:xfrm>
          <a:prstGeom prst="ellipse">
            <a:avLst/>
          </a:prstGeom>
          <a:solidFill>
            <a:srgbClr val="9343F6"/>
          </a:solidFill>
          <a:ln/>
        </p:spPr>
      </p:sp>
      <p:sp>
        <p:nvSpPr>
          <p:cNvPr id="13" name="Text 11"/>
          <p:cNvSpPr/>
          <p:nvPr/>
        </p:nvSpPr>
        <p:spPr>
          <a:xfrm>
            <a:off x="777240" y="5157216"/>
            <a:ext cx="5760720" cy="594360"/>
          </a:xfrm>
          <a:prstGeom prst="rect">
            <a:avLst/>
          </a:prstGeom>
          <a:noFill/>
          <a:ln/>
        </p:spPr>
        <p:txBody>
          <a:bodyPr wrap="square" lIns="0" tIns="0" rIns="0" bIns="0" rtlCol="0" anchor="t"/>
          <a:lstStyle/>
          <a:p>
            <a:pPr indent="0" marL="0">
              <a:buNone/>
            </a:pPr>
            <a:r>
              <a:rPr lang="en-US" sz="1600" b="1" dirty="0">
                <a:solidFill>
                  <a:srgbClr val="0E0142"/>
                </a:solidFill>
                <a:latin typeface="Figtree" pitchFamily="34" charset="0"/>
                <a:ea typeface="Figtree" pitchFamily="34" charset="-122"/>
                <a:cs typeface="Figtree" pitchFamily="34" charset="-120"/>
              </a:rPr>
              <a:t>debt: </a:t>
            </a:r>
            <a:pPr indent="0" marL="0">
              <a:buNone/>
            </a:pPr>
            <a:r>
              <a:rPr lang="en-US" sz="1600" dirty="0">
                <a:solidFill>
                  <a:srgbClr val="33322E"/>
                </a:solidFill>
                <a:latin typeface="Figtree" pitchFamily="34" charset="0"/>
                <a:ea typeface="Figtree" pitchFamily="34" charset="-122"/>
                <a:cs typeface="Figtree" pitchFamily="34" charset="-120"/>
              </a:rPr>
              <a:t>Something, usually money, owed as payment for something else.</a:t>
            </a:r>
            <a:endParaRPr lang="en-US" sz="1600" dirty="0"/>
          </a:p>
        </p:txBody>
      </p:sp>
      <p:sp>
        <p:nvSpPr>
          <p:cNvPr id="14" name="Shape 12"/>
          <p:cNvSpPr/>
          <p:nvPr/>
        </p:nvSpPr>
        <p:spPr>
          <a:xfrm>
            <a:off x="548640" y="5852160"/>
            <a:ext cx="100584" cy="100584"/>
          </a:xfrm>
          <a:prstGeom prst="ellipse">
            <a:avLst/>
          </a:prstGeom>
          <a:solidFill>
            <a:srgbClr val="9343F6"/>
          </a:solidFill>
          <a:ln/>
        </p:spPr>
      </p:sp>
      <p:sp>
        <p:nvSpPr>
          <p:cNvPr id="15" name="Text 13"/>
          <p:cNvSpPr/>
          <p:nvPr/>
        </p:nvSpPr>
        <p:spPr>
          <a:xfrm>
            <a:off x="777240" y="5760720"/>
            <a:ext cx="5760720" cy="594360"/>
          </a:xfrm>
          <a:prstGeom prst="rect">
            <a:avLst/>
          </a:prstGeom>
          <a:noFill/>
          <a:ln/>
        </p:spPr>
        <p:txBody>
          <a:bodyPr wrap="square" lIns="0" tIns="0" rIns="0" bIns="0" rtlCol="0" anchor="t"/>
          <a:lstStyle/>
          <a:p>
            <a:pPr indent="0" marL="0">
              <a:buNone/>
            </a:pPr>
            <a:r>
              <a:rPr lang="en-US" sz="1600" b="1" dirty="0">
                <a:solidFill>
                  <a:srgbClr val="0E0142"/>
                </a:solidFill>
                <a:latin typeface="Figtree" pitchFamily="34" charset="0"/>
                <a:ea typeface="Figtree" pitchFamily="34" charset="-122"/>
                <a:cs typeface="Figtree" pitchFamily="34" charset="-120"/>
              </a:rPr>
              <a:t>plant: </a:t>
            </a:r>
            <a:pPr indent="0" marL="0">
              <a:buNone/>
            </a:pPr>
            <a:r>
              <a:rPr lang="en-US" sz="1600" dirty="0">
                <a:solidFill>
                  <a:srgbClr val="33322E"/>
                </a:solidFill>
                <a:latin typeface="Figtree" pitchFamily="34" charset="0"/>
                <a:ea typeface="Figtree" pitchFamily="34" charset="-122"/>
                <a:cs typeface="Figtree" pitchFamily="34" charset="-120"/>
              </a:rPr>
              <a:t>A factory that manufactures a product.</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766560" y="1005840"/>
          <a:ext cx="4892040" cy="5303520"/>
        </p:xfrm>
        <a:graphic>
          <a:graphicData uri="http://schemas.openxmlformats.org/drawingml/2006/table">
            <a:tbl>
              <a:tblPr/>
              <a:tblGrid>
                <a:gridCol w="2446020"/>
                <a:gridCol w="2446020"/>
              </a:tblGrid>
              <a:tr h="411480">
                <a:tc>
                  <a:txBody>
                    <a:bodyPr/>
                    <a:lstStyle/>
                    <a:p>
                      <a:pPr algn="l" indent="0" marL="0">
                        <a:buNone/>
                      </a:pPr>
                      <a:r>
                        <a:rPr lang="en-US" sz="1400" b="1" dirty="0">
                          <a:solidFill>
                            <a:srgbClr val="FFFFFF"/>
                          </a:solidFill>
                          <a:latin typeface="Figtree" pitchFamily="34" charset="0"/>
                          <a:ea typeface="Figtree" pitchFamily="34" charset="-122"/>
                          <a:cs typeface="Figtree" pitchFamily="34" charset="-120"/>
                        </a:rPr>
                        <a:t>Event</a:t>
                      </a:r>
                      <a:endParaRPr lang="en-US" sz="1400" dirty="0">
                        <a:latin typeface="Figtree" charset="0"/>
                        <a:ea typeface="Figtree" charset="0"/>
                        <a:cs typeface="Figtree" charset="0"/>
                      </a:endParaRPr>
                    </a:p>
                  </a:txBody>
                  <a:tcPr marL="91440" marR="91440" marT="45720" marB="45720" anchor="ctr">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3928AA"/>
                    </a:solidFill>
                  </a:tcPr>
                </a:tc>
                <a:tc>
                  <a:txBody>
                    <a:bodyPr/>
                    <a:lstStyle/>
                    <a:p>
                      <a:pPr algn="l" indent="0" marL="0">
                        <a:buNone/>
                      </a:pPr>
                      <a:r>
                        <a:rPr lang="en-US" sz="1400" b="1" dirty="0">
                          <a:solidFill>
                            <a:srgbClr val="FFFFFF"/>
                          </a:solidFill>
                          <a:latin typeface="Figtree" pitchFamily="34" charset="0"/>
                          <a:ea typeface="Figtree" pitchFamily="34" charset="-122"/>
                          <a:cs typeface="Figtree" pitchFamily="34" charset="-120"/>
                        </a:rPr>
                        <a:t>How the Conflict Develops or Intensifies</a:t>
                      </a:r>
                      <a:endParaRPr lang="en-US" sz="1400" dirty="0">
                        <a:latin typeface="Figtree" charset="0"/>
                        <a:ea typeface="Figtree" charset="0"/>
                        <a:cs typeface="Figtree" charset="0"/>
                      </a:endParaRPr>
                    </a:p>
                  </a:txBody>
                  <a:tcPr marL="91440" marR="91440" marT="45720" marB="45720" anchor="ctr">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3928AA"/>
                    </a:solidFill>
                  </a:tcPr>
                </a:tc>
              </a:tr>
              <a:tr h="1223010">
                <a:tc>
                  <a:txBody>
                    <a:bodyPr/>
                    <a:lstStyle/>
                    <a:p>
                      <a:pPr indent="0" marL="0">
                        <a:buNone/>
                      </a:pP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FFFF"/>
                    </a:solidFill>
                  </a:tcPr>
                </a:tc>
                <a:tc>
                  <a:txBody>
                    <a:bodyPr/>
                    <a:lstStyle/>
                    <a:p>
                      <a:pPr indent="0" marL="0">
                        <a:buNone/>
                      </a:pP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FFFF"/>
                    </a:solidFill>
                  </a:tcPr>
                </a:tc>
              </a:tr>
              <a:tr h="1223010">
                <a:tc>
                  <a:txBody>
                    <a:bodyPr/>
                    <a:lstStyle/>
                    <a:p>
                      <a:pPr indent="0" marL="0">
                        <a:buNone/>
                      </a:pP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DBC5"/>
                    </a:solidFill>
                  </a:tcPr>
                </a:tc>
                <a:tc>
                  <a:txBody>
                    <a:bodyPr/>
                    <a:lstStyle/>
                    <a:p>
                      <a:pPr indent="0" marL="0">
                        <a:buNone/>
                      </a:pP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DBC5"/>
                    </a:solidFill>
                  </a:tcPr>
                </a:tc>
              </a:tr>
              <a:tr h="1223010">
                <a:tc>
                  <a:txBody>
                    <a:bodyPr/>
                    <a:lstStyle/>
                    <a:p>
                      <a:pPr indent="0" marL="0">
                        <a:buNone/>
                      </a:pP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FFFF"/>
                    </a:solidFill>
                  </a:tcPr>
                </a:tc>
                <a:tc>
                  <a:txBody>
                    <a:bodyPr/>
                    <a:lstStyle/>
                    <a:p>
                      <a:pPr indent="0" marL="0">
                        <a:buNone/>
                      </a:pP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FFFF"/>
                    </a:solidFill>
                  </a:tcPr>
                </a:tc>
              </a:tr>
              <a:tr h="1223010">
                <a:tc>
                  <a:txBody>
                    <a:bodyPr/>
                    <a:lstStyle/>
                    <a:p>
                      <a:pPr indent="0" marL="0">
                        <a:buNone/>
                      </a:pP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DBC5"/>
                    </a:solidFill>
                  </a:tcPr>
                </a:tc>
                <a:tc>
                  <a:txBody>
                    <a:bodyPr/>
                    <a:lstStyle/>
                    <a:p>
                      <a:pPr indent="0" marL="0">
                        <a:buNone/>
                      </a:pPr>
                      <a:endParaRPr lang="en-US" sz="1300" dirty="0">
                        <a:latin typeface="Figtree" charset="0"/>
                        <a:ea typeface="Figtree" charset="0"/>
                        <a:cs typeface="Figtree" charset="0"/>
                      </a:endParaRPr>
                    </a:p>
                  </a:txBody>
                  <a:tcPr marL="91440" marR="91440" marT="45720" marB="45720" anchor="t">
                    <a:lnL w="12700" cap="flat" cmpd="sng" algn="ctr">
                      <a:solidFill>
                        <a:srgbClr val="DCD6EE"/>
                      </a:solidFill>
                      <a:prstDash val="solid"/>
                      <a:round/>
                      <a:headEnd type="none" w="med" len="med"/>
                      <a:tailEnd type="none" w="med" len="med"/>
                    </a:lnL>
                    <a:lnR w="12700" cap="flat" cmpd="sng" algn="ctr">
                      <a:solidFill>
                        <a:srgbClr val="DCD6EE"/>
                      </a:solidFill>
                      <a:prstDash val="solid"/>
                      <a:round/>
                      <a:headEnd type="none" w="med" len="med"/>
                      <a:tailEnd type="none" w="med" len="med"/>
                    </a:lnR>
                    <a:lnT w="12700" cap="flat" cmpd="sng" algn="ctr">
                      <a:solidFill>
                        <a:srgbClr val="DCD6EE"/>
                      </a:solidFill>
                      <a:prstDash val="solid"/>
                      <a:round/>
                      <a:headEnd type="none" w="med" len="med"/>
                      <a:tailEnd type="none" w="med" len="med"/>
                    </a:lnT>
                    <a:lnB w="12700" cap="flat" cmpd="sng" algn="ctr">
                      <a:solidFill>
                        <a:srgbClr val="DCD6EE"/>
                      </a:solidFill>
                      <a:prstDash val="solid"/>
                      <a:round/>
                      <a:headEnd type="none" w="med" len="med"/>
                      <a:tailEnd type="none" w="med" len="med"/>
                    </a:lnB>
                    <a:solidFill>
                      <a:srgbClr val="FFDBC5"/>
                    </a:solidFill>
                  </a:tcPr>
                </a:tc>
              </a:tr>
            </a:tbl>
          </a:graphicData>
        </a:graphic>
      </p:graphicFrame>
      <p:sp>
        <p:nvSpPr>
          <p:cNvPr id="17" name="Text 14"/>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8" name="Text 15"/>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Discourse Clubs</a:t>
            </a:r>
            <a:endParaRPr lang="en-US" sz="3600" dirty="0"/>
          </a:p>
        </p:txBody>
      </p:sp>
      <p:sp>
        <p:nvSpPr>
          <p:cNvPr id="3" name="Text 1"/>
          <p:cNvSpPr/>
          <p:nvPr/>
        </p:nvSpPr>
        <p:spPr>
          <a:xfrm>
            <a:off x="502920" y="1097280"/>
            <a:ext cx="11155680" cy="320040"/>
          </a:xfrm>
          <a:prstGeom prst="rect">
            <a:avLst/>
          </a:prstGeom>
          <a:noFill/>
          <a:ln/>
        </p:spPr>
        <p:txBody>
          <a:bodyPr wrap="square" lIns="0" tIns="0" rIns="0" bIns="0" rtlCol="0" anchor="ctr"/>
          <a:lstStyle/>
          <a:p>
            <a:pPr indent="0" marL="0">
              <a:buNone/>
            </a:pPr>
            <a:r>
              <a:rPr lang="en-US" sz="2200" b="1" dirty="0">
                <a:solidFill>
                  <a:srgbClr val="F19A65"/>
                </a:solidFill>
                <a:latin typeface="Figtree" pitchFamily="34" charset="0"/>
                <a:ea typeface="Figtree" pitchFamily="34" charset="-122"/>
                <a:cs typeface="Figtree" pitchFamily="34" charset="-120"/>
              </a:rPr>
              <a:t>DISCOURSE CLUBS</a:t>
            </a:r>
            <a:endParaRPr lang="en-US" sz="2200" dirty="0"/>
          </a:p>
        </p:txBody>
      </p:sp>
      <p:sp>
        <p:nvSpPr>
          <p:cNvPr id="4" name="Shape 2"/>
          <p:cNvSpPr/>
          <p:nvPr/>
        </p:nvSpPr>
        <p:spPr>
          <a:xfrm>
            <a:off x="502920" y="1463040"/>
            <a:ext cx="11155680" cy="2377440"/>
          </a:xfrm>
          <a:prstGeom prst="roundRect">
            <a:avLst>
              <a:gd name="adj" fmla="val 2308"/>
            </a:avLst>
          </a:prstGeom>
          <a:solidFill>
            <a:srgbClr val="FDEEF2"/>
          </a:solidFill>
          <a:ln w="19050">
            <a:solidFill>
              <a:srgbClr val="ED6A91"/>
            </a:solidFill>
            <a:prstDash val="dash"/>
          </a:ln>
        </p:spPr>
      </p:sp>
      <p:sp>
        <p:nvSpPr>
          <p:cNvPr id="5" name="Text 3"/>
          <p:cNvSpPr/>
          <p:nvPr/>
        </p:nvSpPr>
        <p:spPr>
          <a:xfrm>
            <a:off x="777240" y="2194560"/>
            <a:ext cx="10607040" cy="1097280"/>
          </a:xfrm>
          <a:prstGeom prst="rect">
            <a:avLst/>
          </a:prstGeom>
          <a:noFill/>
          <a:ln/>
        </p:spPr>
        <p:txBody>
          <a:bodyPr wrap="square" lIns="0" tIns="0" rIns="0" bIns="0" rtlCol="0" anchor="t"/>
          <a:lstStyle/>
          <a:p>
            <a:pPr indent="0" marL="0">
              <a:buNone/>
            </a:pPr>
            <a:r>
              <a:rPr lang="en-US" sz="2400" b="1" dirty="0">
                <a:solidFill>
                  <a:srgbClr val="3928AA"/>
                </a:solidFill>
                <a:latin typeface="Figtree" pitchFamily="34" charset="0"/>
                <a:ea typeface="Figtree" pitchFamily="34" charset="-122"/>
                <a:cs typeface="Figtree" pitchFamily="34" charset="-120"/>
              </a:rPr>
              <a:t>Prompt: </a:t>
            </a:r>
            <a:pPr indent="0" marL="0">
              <a:buNone/>
            </a:pPr>
            <a:r>
              <a:rPr lang="en-US" sz="2400" dirty="0">
                <a:solidFill>
                  <a:srgbClr val="0E0142"/>
                </a:solidFill>
                <a:latin typeface="Figtree" pitchFamily="34" charset="0"/>
                <a:ea typeface="Figtree" pitchFamily="34" charset="-122"/>
                <a:cs typeface="Figtree" pitchFamily="34" charset="-120"/>
              </a:rPr>
              <a:t>How has Langston's conflict developed or intensified throughout the text so far?</a:t>
            </a:r>
            <a:endParaRPr lang="en-US" sz="2400" dirty="0"/>
          </a:p>
        </p:txBody>
      </p:sp>
      <p:sp>
        <p:nvSpPr>
          <p:cNvPr id="6" name="Text 4"/>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7" name="Text 5"/>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platform_verify/assets/decorative_bg.png">    </p:cNvPr>
          <p:cNvPicPr>
            <a:picLocks noChangeAspect="1"/>
          </p:cNvPicPr>
          <p:nvPr/>
        </p:nvPicPr>
        <p:blipFill>
          <a:blip r:embed="rId1"/>
          <a:stretch>
            <a:fillRect/>
          </a:stretch>
        </p:blipFill>
        <p:spPr>
          <a:xfrm>
            <a:off x="7284750" y="0"/>
            <a:ext cx="4876770" cy="4207886"/>
          </a:xfrm>
          <a:prstGeom prst="rect">
            <a:avLst/>
          </a:prstGeom>
        </p:spPr>
      </p:pic>
      <p:sp>
        <p:nvSpPr>
          <p:cNvPr id="3"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Discourse Clubs</a:t>
            </a:r>
            <a:endParaRPr lang="en-US" sz="3600" dirty="0"/>
          </a:p>
        </p:txBody>
      </p:sp>
      <p:sp>
        <p:nvSpPr>
          <p:cNvPr id="4" name="Shape 1"/>
          <p:cNvSpPr/>
          <p:nvPr/>
        </p:nvSpPr>
        <p:spPr>
          <a:xfrm>
            <a:off x="640080" y="1737360"/>
            <a:ext cx="2743200" cy="3520440"/>
          </a:xfrm>
          <a:prstGeom prst="roundRect">
            <a:avLst>
              <a:gd name="adj" fmla="val 2667"/>
            </a:avLst>
          </a:prstGeom>
          <a:solidFill>
            <a:srgbClr val="FDEEF2"/>
          </a:solidFill>
          <a:ln/>
        </p:spPr>
      </p:sp>
      <p:pic>
        <p:nvPicPr>
          <p:cNvPr id="5" name="Image 1" descr="/home/claude/platform_verify/assets/detail_icons/discourse_clubs.png">    </p:cNvPr>
          <p:cNvPicPr>
            <a:picLocks noChangeAspect="1"/>
          </p:cNvPicPr>
          <p:nvPr/>
        </p:nvPicPr>
        <p:blipFill>
          <a:blip r:embed="rId2"/>
          <a:stretch>
            <a:fillRect/>
          </a:stretch>
        </p:blipFill>
        <p:spPr>
          <a:xfrm>
            <a:off x="868680" y="2011680"/>
            <a:ext cx="594360" cy="594360"/>
          </a:xfrm>
          <a:prstGeom prst="rect">
            <a:avLst/>
          </a:prstGeom>
        </p:spPr>
      </p:pic>
      <p:sp>
        <p:nvSpPr>
          <p:cNvPr id="6" name="Text 2"/>
          <p:cNvSpPr/>
          <p:nvPr/>
        </p:nvSpPr>
        <p:spPr>
          <a:xfrm>
            <a:off x="868680" y="2788920"/>
            <a:ext cx="2286000" cy="594360"/>
          </a:xfrm>
          <a:prstGeom prst="rect">
            <a:avLst/>
          </a:prstGeom>
          <a:noFill/>
          <a:ln/>
        </p:spPr>
        <p:txBody>
          <a:bodyPr wrap="square" lIns="0" tIns="0" rIns="0" bIns="0" rtlCol="0" anchor="t"/>
          <a:lstStyle/>
          <a:p>
            <a:pPr indent="0" marL="0">
              <a:buNone/>
            </a:pPr>
            <a:r>
              <a:rPr lang="en-US" sz="2150" b="1" dirty="0">
                <a:solidFill>
                  <a:srgbClr val="0E0142"/>
                </a:solidFill>
                <a:latin typeface="Figtree" pitchFamily="34" charset="0"/>
                <a:ea typeface="Figtree" pitchFamily="34" charset="-122"/>
                <a:cs typeface="Figtree" pitchFamily="34" charset="-120"/>
              </a:rPr>
              <a:t>Discourse Clubs</a:t>
            </a:r>
            <a:endParaRPr lang="en-US" sz="2150" dirty="0"/>
          </a:p>
        </p:txBody>
      </p:sp>
      <p:sp>
        <p:nvSpPr>
          <p:cNvPr id="7" name="Text 3"/>
          <p:cNvSpPr/>
          <p:nvPr/>
        </p:nvSpPr>
        <p:spPr>
          <a:xfrm>
            <a:off x="868680" y="3429000"/>
            <a:ext cx="2286000" cy="1645920"/>
          </a:xfrm>
          <a:prstGeom prst="rect">
            <a:avLst/>
          </a:prstGeom>
          <a:noFill/>
          <a:ln/>
        </p:spPr>
        <p:txBody>
          <a:bodyPr wrap="square" lIns="0" tIns="0" rIns="0" bIns="0" rtlCol="0" anchor="t"/>
          <a:lstStyle/>
          <a:p>
            <a:pPr indent="0" marL="0">
              <a:buNone/>
            </a:pPr>
            <a:r>
              <a:rPr lang="en-US" sz="1750" dirty="0">
                <a:solidFill>
                  <a:srgbClr val="6B6478"/>
                </a:solidFill>
                <a:latin typeface="Figtree" pitchFamily="34" charset="0"/>
                <a:ea typeface="Figtree" pitchFamily="34" charset="-122"/>
                <a:cs typeface="Figtree" pitchFamily="34" charset="-120"/>
              </a:rPr>
              <a:t>Collaborate with your club to discuss and deepen your understanding of the text.</a:t>
            </a:r>
            <a:endParaRPr lang="en-US" sz="1750" dirty="0"/>
          </a:p>
        </p:txBody>
      </p:sp>
      <p:sp>
        <p:nvSpPr>
          <p:cNvPr id="8" name="Shape 4"/>
          <p:cNvSpPr/>
          <p:nvPr/>
        </p:nvSpPr>
        <p:spPr>
          <a:xfrm>
            <a:off x="3794760" y="1737360"/>
            <a:ext cx="73152" cy="3520440"/>
          </a:xfrm>
          <a:prstGeom prst="rect">
            <a:avLst/>
          </a:prstGeom>
          <a:solidFill>
            <a:srgbClr val="F19A65"/>
          </a:solidFill>
          <a:ln/>
        </p:spPr>
      </p:sp>
      <p:sp>
        <p:nvSpPr>
          <p:cNvPr id="9" name="Shape 5"/>
          <p:cNvSpPr/>
          <p:nvPr/>
        </p:nvSpPr>
        <p:spPr>
          <a:xfrm>
            <a:off x="3867912" y="1737360"/>
            <a:ext cx="7790688" cy="3520440"/>
          </a:xfrm>
          <a:prstGeom prst="rect">
            <a:avLst/>
          </a:prstGeom>
          <a:solidFill>
            <a:srgbClr val="FFFFFF"/>
          </a:solidFill>
          <a:ln w="12700">
            <a:solidFill>
              <a:srgbClr val="E5EFF9"/>
            </a:solidFill>
            <a:prstDash val="solid"/>
          </a:ln>
        </p:spPr>
      </p:sp>
      <p:sp>
        <p:nvSpPr>
          <p:cNvPr id="10" name="Text 6"/>
          <p:cNvSpPr/>
          <p:nvPr/>
        </p:nvSpPr>
        <p:spPr>
          <a:xfrm>
            <a:off x="4160520" y="2057400"/>
            <a:ext cx="7132320" cy="274320"/>
          </a:xfrm>
          <a:prstGeom prst="rect">
            <a:avLst/>
          </a:prstGeom>
          <a:noFill/>
          <a:ln/>
        </p:spPr>
        <p:txBody>
          <a:bodyPr wrap="square" lIns="0" tIns="0" rIns="0" bIns="0" rtlCol="0" anchor="ctr"/>
          <a:lstStyle/>
          <a:p>
            <a:pPr indent="0" marL="0">
              <a:buNone/>
            </a:pPr>
            <a:r>
              <a:rPr lang="en-US" sz="1850" b="1" dirty="0">
                <a:solidFill>
                  <a:srgbClr val="F19A65"/>
                </a:solidFill>
                <a:latin typeface="Figtree" pitchFamily="34" charset="0"/>
                <a:ea typeface="Figtree" pitchFamily="34" charset="-122"/>
                <a:cs typeface="Figtree" pitchFamily="34" charset="-120"/>
              </a:rPr>
              <a:t>Prompt</a:t>
            </a:r>
            <a:endParaRPr lang="en-US" sz="1850" dirty="0"/>
          </a:p>
        </p:txBody>
      </p:sp>
      <p:sp>
        <p:nvSpPr>
          <p:cNvPr id="11" name="Text 7"/>
          <p:cNvSpPr/>
          <p:nvPr/>
        </p:nvSpPr>
        <p:spPr>
          <a:xfrm>
            <a:off x="4160520" y="2423160"/>
            <a:ext cx="7132320" cy="2514600"/>
          </a:xfrm>
          <a:prstGeom prst="rect">
            <a:avLst/>
          </a:prstGeom>
          <a:noFill/>
          <a:ln/>
        </p:spPr>
        <p:txBody>
          <a:bodyPr wrap="square" lIns="0" tIns="0" rIns="0" bIns="0" rtlCol="0" anchor="t"/>
          <a:lstStyle/>
          <a:p>
            <a:pPr indent="0" marL="0">
              <a:buNone/>
            </a:pPr>
            <a:r>
              <a:rPr lang="en-US" sz="2400" dirty="0">
                <a:solidFill>
                  <a:srgbClr val="0E0142"/>
                </a:solidFill>
                <a:latin typeface="Figtree" pitchFamily="34" charset="0"/>
                <a:ea typeface="Figtree" pitchFamily="34" charset="-122"/>
                <a:cs typeface="Figtree" pitchFamily="34" charset="-120"/>
              </a:rPr>
              <a:t>How has Langston's conflict developed or intensified throughout the text so far?</a:t>
            </a:r>
            <a:endParaRPr lang="en-US" sz="2400" dirty="0"/>
          </a:p>
        </p:txBody>
      </p:sp>
      <p:sp>
        <p:nvSpPr>
          <p:cNvPr id="12" name="Text 8"/>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3" name="Text 9"/>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platform_verify/assets/decorative_bg.png">    </p:cNvPr>
          <p:cNvPicPr>
            <a:picLocks noChangeAspect="1"/>
          </p:cNvPicPr>
          <p:nvPr/>
        </p:nvPicPr>
        <p:blipFill>
          <a:blip r:embed="rId1"/>
          <a:stretch>
            <a:fillRect/>
          </a:stretch>
        </p:blipFill>
        <p:spPr>
          <a:xfrm>
            <a:off x="7284750" y="0"/>
            <a:ext cx="4876770" cy="4207886"/>
          </a:xfrm>
          <a:prstGeom prst="rect">
            <a:avLst/>
          </a:prstGeom>
        </p:spPr>
      </p:pic>
      <p:sp>
        <p:nvSpPr>
          <p:cNvPr id="3"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Whole-Class Discourse</a:t>
            </a:r>
            <a:endParaRPr lang="en-US" sz="3600" dirty="0"/>
          </a:p>
        </p:txBody>
      </p:sp>
      <p:sp>
        <p:nvSpPr>
          <p:cNvPr id="4" name="Shape 1"/>
          <p:cNvSpPr/>
          <p:nvPr/>
        </p:nvSpPr>
        <p:spPr>
          <a:xfrm>
            <a:off x="640080" y="1737360"/>
            <a:ext cx="2743200" cy="3520440"/>
          </a:xfrm>
          <a:prstGeom prst="roundRect">
            <a:avLst>
              <a:gd name="adj" fmla="val 2667"/>
            </a:avLst>
          </a:prstGeom>
          <a:solidFill>
            <a:srgbClr val="ECEAF9"/>
          </a:solidFill>
          <a:ln/>
        </p:spPr>
      </p:sp>
      <p:pic>
        <p:nvPicPr>
          <p:cNvPr id="5" name="Image 1" descr="/home/claude/platform_verify/assets/detail_icons/whole_class_discourse.png">    </p:cNvPr>
          <p:cNvPicPr>
            <a:picLocks noChangeAspect="1"/>
          </p:cNvPicPr>
          <p:nvPr/>
        </p:nvPicPr>
        <p:blipFill>
          <a:blip r:embed="rId2"/>
          <a:stretch>
            <a:fillRect/>
          </a:stretch>
        </p:blipFill>
        <p:spPr>
          <a:xfrm>
            <a:off x="868680" y="2011680"/>
            <a:ext cx="594360" cy="594360"/>
          </a:xfrm>
          <a:prstGeom prst="rect">
            <a:avLst/>
          </a:prstGeom>
        </p:spPr>
      </p:pic>
      <p:sp>
        <p:nvSpPr>
          <p:cNvPr id="6" name="Text 2"/>
          <p:cNvSpPr/>
          <p:nvPr/>
        </p:nvSpPr>
        <p:spPr>
          <a:xfrm>
            <a:off x="868680" y="2788920"/>
            <a:ext cx="2286000" cy="594360"/>
          </a:xfrm>
          <a:prstGeom prst="rect">
            <a:avLst/>
          </a:prstGeom>
          <a:noFill/>
          <a:ln/>
        </p:spPr>
        <p:txBody>
          <a:bodyPr wrap="square" lIns="0" tIns="0" rIns="0" bIns="0" rtlCol="0" anchor="t"/>
          <a:lstStyle/>
          <a:p>
            <a:pPr indent="0" marL="0">
              <a:buNone/>
            </a:pPr>
            <a:r>
              <a:rPr lang="en-US" sz="2150" b="1" dirty="0">
                <a:solidFill>
                  <a:srgbClr val="0E0142"/>
                </a:solidFill>
                <a:latin typeface="Figtree" pitchFamily="34" charset="0"/>
                <a:ea typeface="Figtree" pitchFamily="34" charset="-122"/>
                <a:cs typeface="Figtree" pitchFamily="34" charset="-120"/>
              </a:rPr>
              <a:t>Whole-Class Discourse</a:t>
            </a:r>
            <a:endParaRPr lang="en-US" sz="2150" dirty="0"/>
          </a:p>
        </p:txBody>
      </p:sp>
      <p:sp>
        <p:nvSpPr>
          <p:cNvPr id="7" name="Text 3"/>
          <p:cNvSpPr/>
          <p:nvPr/>
        </p:nvSpPr>
        <p:spPr>
          <a:xfrm>
            <a:off x="868680" y="3429000"/>
            <a:ext cx="2286000" cy="1645920"/>
          </a:xfrm>
          <a:prstGeom prst="rect">
            <a:avLst/>
          </a:prstGeom>
          <a:noFill/>
          <a:ln/>
        </p:spPr>
        <p:txBody>
          <a:bodyPr wrap="square" lIns="0" tIns="0" rIns="0" bIns="0" rtlCol="0" anchor="t"/>
          <a:lstStyle/>
          <a:p>
            <a:pPr indent="0" marL="0">
              <a:buNone/>
            </a:pPr>
            <a:r>
              <a:rPr lang="en-US" sz="1750" dirty="0">
                <a:solidFill>
                  <a:srgbClr val="6B6478"/>
                </a:solidFill>
                <a:latin typeface="Figtree" pitchFamily="34" charset="0"/>
                <a:ea typeface="Figtree" pitchFamily="34" charset="-122"/>
                <a:cs typeface="Figtree" pitchFamily="34" charset="-120"/>
              </a:rPr>
              <a:t>Share your ideas, listen to your classmates, and build on each other's thinking.</a:t>
            </a:r>
            <a:endParaRPr lang="en-US" sz="1750" dirty="0"/>
          </a:p>
        </p:txBody>
      </p:sp>
      <p:sp>
        <p:nvSpPr>
          <p:cNvPr id="8" name="Shape 4"/>
          <p:cNvSpPr/>
          <p:nvPr/>
        </p:nvSpPr>
        <p:spPr>
          <a:xfrm>
            <a:off x="3794760" y="1737360"/>
            <a:ext cx="73152" cy="3520440"/>
          </a:xfrm>
          <a:prstGeom prst="rect">
            <a:avLst/>
          </a:prstGeom>
          <a:solidFill>
            <a:srgbClr val="3928AA"/>
          </a:solidFill>
          <a:ln/>
        </p:spPr>
      </p:sp>
      <p:sp>
        <p:nvSpPr>
          <p:cNvPr id="9" name="Shape 5"/>
          <p:cNvSpPr/>
          <p:nvPr/>
        </p:nvSpPr>
        <p:spPr>
          <a:xfrm>
            <a:off x="3867912" y="1737360"/>
            <a:ext cx="7790688" cy="3520440"/>
          </a:xfrm>
          <a:prstGeom prst="rect">
            <a:avLst/>
          </a:prstGeom>
          <a:solidFill>
            <a:srgbClr val="FFFFFF"/>
          </a:solidFill>
          <a:ln w="12700">
            <a:solidFill>
              <a:srgbClr val="E5EFF9"/>
            </a:solidFill>
            <a:prstDash val="solid"/>
          </a:ln>
        </p:spPr>
      </p:sp>
      <p:sp>
        <p:nvSpPr>
          <p:cNvPr id="10" name="Text 6"/>
          <p:cNvSpPr/>
          <p:nvPr/>
        </p:nvSpPr>
        <p:spPr>
          <a:xfrm>
            <a:off x="4160520" y="2057400"/>
            <a:ext cx="7132320" cy="274320"/>
          </a:xfrm>
          <a:prstGeom prst="rect">
            <a:avLst/>
          </a:prstGeom>
          <a:noFill/>
          <a:ln/>
        </p:spPr>
        <p:txBody>
          <a:bodyPr wrap="square" lIns="0" tIns="0" rIns="0" bIns="0" rtlCol="0" anchor="ctr"/>
          <a:lstStyle/>
          <a:p>
            <a:pPr indent="0" marL="0">
              <a:buNone/>
            </a:pPr>
            <a:r>
              <a:rPr lang="en-US" sz="1850" b="1" dirty="0">
                <a:solidFill>
                  <a:srgbClr val="3928AA"/>
                </a:solidFill>
                <a:latin typeface="Figtree" pitchFamily="34" charset="0"/>
                <a:ea typeface="Figtree" pitchFamily="34" charset="-122"/>
                <a:cs typeface="Figtree" pitchFamily="34" charset="-120"/>
              </a:rPr>
              <a:t>Prompt</a:t>
            </a:r>
            <a:endParaRPr lang="en-US" sz="1850" dirty="0"/>
          </a:p>
        </p:txBody>
      </p:sp>
      <p:sp>
        <p:nvSpPr>
          <p:cNvPr id="11" name="Text 7"/>
          <p:cNvSpPr/>
          <p:nvPr/>
        </p:nvSpPr>
        <p:spPr>
          <a:xfrm>
            <a:off x="4160520" y="2423160"/>
            <a:ext cx="7132320" cy="2514600"/>
          </a:xfrm>
          <a:prstGeom prst="rect">
            <a:avLst/>
          </a:prstGeom>
          <a:noFill/>
          <a:ln/>
        </p:spPr>
        <p:txBody>
          <a:bodyPr wrap="square" lIns="0" tIns="0" rIns="0" bIns="0" rtlCol="0" anchor="t"/>
          <a:lstStyle/>
          <a:p>
            <a:pPr indent="0" marL="0">
              <a:buNone/>
            </a:pPr>
            <a:r>
              <a:rPr lang="en-US" sz="2400" dirty="0">
                <a:solidFill>
                  <a:srgbClr val="0E0142"/>
                </a:solidFill>
                <a:latin typeface="Figtree" pitchFamily="34" charset="0"/>
                <a:ea typeface="Figtree" pitchFamily="34" charset="-122"/>
                <a:cs typeface="Figtree" pitchFamily="34" charset="-120"/>
              </a:rPr>
              <a:t>How has Langston's conflict developed or intensified throughout the text so far?</a:t>
            </a:r>
            <a:endParaRPr lang="en-US" sz="2400" dirty="0"/>
          </a:p>
        </p:txBody>
      </p:sp>
      <p:sp>
        <p:nvSpPr>
          <p:cNvPr id="12" name="Text 8"/>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3" name="Text 9"/>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Closing</a:t>
            </a:r>
            <a:endParaRPr lang="en-US" sz="3600" dirty="0"/>
          </a:p>
        </p:txBody>
      </p:sp>
      <p:sp>
        <p:nvSpPr>
          <p:cNvPr id="3" name="Shape 1"/>
          <p:cNvSpPr/>
          <p:nvPr/>
        </p:nvSpPr>
        <p:spPr>
          <a:xfrm>
            <a:off x="502920" y="1051560"/>
            <a:ext cx="54864" cy="1234440"/>
          </a:xfrm>
          <a:prstGeom prst="rect">
            <a:avLst/>
          </a:prstGeom>
          <a:solidFill>
            <a:srgbClr val="3928AA"/>
          </a:solidFill>
          <a:ln/>
        </p:spPr>
      </p:sp>
      <p:sp>
        <p:nvSpPr>
          <p:cNvPr id="4" name="Shape 2"/>
          <p:cNvSpPr/>
          <p:nvPr/>
        </p:nvSpPr>
        <p:spPr>
          <a:xfrm>
            <a:off x="557784" y="1051560"/>
            <a:ext cx="11064240" cy="1234440"/>
          </a:xfrm>
          <a:prstGeom prst="rect">
            <a:avLst/>
          </a:prstGeom>
          <a:solidFill>
            <a:srgbClr val="FFF3CB"/>
          </a:solidFill>
          <a:ln/>
        </p:spPr>
      </p:sp>
      <p:sp>
        <p:nvSpPr>
          <p:cNvPr id="5" name="Text 3"/>
          <p:cNvSpPr/>
          <p:nvPr/>
        </p:nvSpPr>
        <p:spPr>
          <a:xfrm>
            <a:off x="777240" y="1188720"/>
            <a:ext cx="10698480" cy="274320"/>
          </a:xfrm>
          <a:prstGeom prst="rect">
            <a:avLst/>
          </a:prstGeom>
          <a:noFill/>
          <a:ln/>
        </p:spPr>
        <p:txBody>
          <a:bodyPr wrap="square" lIns="0" tIns="0" rIns="0" bIns="0" rtlCol="0" anchor="ctr"/>
          <a:lstStyle/>
          <a:p>
            <a:pPr indent="0" marL="0">
              <a:buNone/>
            </a:pPr>
            <a:r>
              <a:rPr lang="en-US" sz="2200" b="1" dirty="0">
                <a:solidFill>
                  <a:srgbClr val="3928AA"/>
                </a:solidFill>
                <a:latin typeface="Figtree" pitchFamily="34" charset="0"/>
                <a:ea typeface="Figtree" pitchFamily="34" charset="-122"/>
                <a:cs typeface="Figtree" pitchFamily="34" charset="-120"/>
              </a:rPr>
              <a:t>ESSENTIAL QUESTION</a:t>
            </a:r>
            <a:endParaRPr lang="en-US" sz="2200" dirty="0"/>
          </a:p>
        </p:txBody>
      </p:sp>
      <p:sp>
        <p:nvSpPr>
          <p:cNvPr id="6" name="Text 4"/>
          <p:cNvSpPr/>
          <p:nvPr/>
        </p:nvSpPr>
        <p:spPr>
          <a:xfrm>
            <a:off x="777240" y="1508760"/>
            <a:ext cx="10698480" cy="685800"/>
          </a:xfrm>
          <a:prstGeom prst="rect">
            <a:avLst/>
          </a:prstGeom>
          <a:noFill/>
          <a:ln/>
        </p:spPr>
        <p:txBody>
          <a:bodyPr wrap="square" lIns="0" tIns="0" rIns="0" bIns="0" rtlCol="0" anchor="t"/>
          <a:lstStyle/>
          <a:p>
            <a:pPr indent="0" marL="0">
              <a:buNone/>
            </a:pPr>
            <a:r>
              <a:rPr lang="en-US" sz="2400" b="1" dirty="0">
                <a:solidFill>
                  <a:srgbClr val="0E0142"/>
                </a:solidFill>
                <a:latin typeface="Figtree" pitchFamily="34" charset="0"/>
                <a:ea typeface="Figtree" pitchFamily="34" charset="-122"/>
                <a:cs typeface="Figtree" pitchFamily="34" charset="-120"/>
              </a:rPr>
              <a:t>How can we understand characters by examining their responses to conflict?</a:t>
            </a:r>
            <a:endParaRPr lang="en-US" sz="2400" dirty="0"/>
          </a:p>
        </p:txBody>
      </p:sp>
      <p:sp>
        <p:nvSpPr>
          <p:cNvPr id="7" name="Shape 5"/>
          <p:cNvSpPr/>
          <p:nvPr/>
        </p:nvSpPr>
        <p:spPr>
          <a:xfrm>
            <a:off x="502920" y="2514600"/>
            <a:ext cx="11155680" cy="45720"/>
          </a:xfrm>
          <a:prstGeom prst="rect">
            <a:avLst/>
          </a:prstGeom>
          <a:solidFill>
            <a:srgbClr val="F19A65"/>
          </a:solidFill>
          <a:ln/>
        </p:spPr>
      </p:sp>
      <p:sp>
        <p:nvSpPr>
          <p:cNvPr id="8" name="Shape 6"/>
          <p:cNvSpPr/>
          <p:nvPr/>
        </p:nvSpPr>
        <p:spPr>
          <a:xfrm>
            <a:off x="502920" y="2560320"/>
            <a:ext cx="11155680" cy="2194560"/>
          </a:xfrm>
          <a:prstGeom prst="rect">
            <a:avLst/>
          </a:prstGeom>
          <a:solidFill>
            <a:srgbClr val="FFFFFF"/>
          </a:solidFill>
          <a:ln w="12700">
            <a:solidFill>
              <a:srgbClr val="E5EFF9"/>
            </a:solidFill>
            <a:prstDash val="solid"/>
          </a:ln>
        </p:spPr>
      </p:sp>
      <p:sp>
        <p:nvSpPr>
          <p:cNvPr id="9" name="Text 7"/>
          <p:cNvSpPr/>
          <p:nvPr/>
        </p:nvSpPr>
        <p:spPr>
          <a:xfrm>
            <a:off x="685800" y="2743200"/>
            <a:ext cx="10789920" cy="320040"/>
          </a:xfrm>
          <a:prstGeom prst="rect">
            <a:avLst/>
          </a:prstGeom>
          <a:noFill/>
          <a:ln/>
        </p:spPr>
        <p:txBody>
          <a:bodyPr wrap="square" lIns="0" tIns="0" rIns="0" bIns="0" rtlCol="0" anchor="ctr"/>
          <a:lstStyle/>
          <a:p>
            <a:pPr indent="0" marL="0">
              <a:buNone/>
            </a:pPr>
            <a:r>
              <a:rPr lang="en-US" sz="2200" b="1" dirty="0">
                <a:solidFill>
                  <a:srgbClr val="F19A65"/>
                </a:solidFill>
                <a:latin typeface="Figtree" pitchFamily="34" charset="0"/>
                <a:ea typeface="Figtree" pitchFamily="34" charset="-122"/>
                <a:cs typeface="Figtree" pitchFamily="34" charset="-120"/>
              </a:rPr>
              <a:t>TEACHING POINT</a:t>
            </a:r>
            <a:endParaRPr lang="en-US" sz="2200" dirty="0"/>
          </a:p>
        </p:txBody>
      </p:sp>
      <p:sp>
        <p:nvSpPr>
          <p:cNvPr id="10" name="Text 8"/>
          <p:cNvSpPr/>
          <p:nvPr/>
        </p:nvSpPr>
        <p:spPr>
          <a:xfrm>
            <a:off x="685800" y="3108960"/>
            <a:ext cx="10789920" cy="1554480"/>
          </a:xfrm>
          <a:prstGeom prst="rect">
            <a:avLst/>
          </a:prstGeom>
          <a:noFill/>
          <a:ln/>
        </p:spPr>
        <p:txBody>
          <a:bodyPr wrap="square" lIns="0" tIns="0" rIns="0" bIns="0" rtlCol="0" anchor="t"/>
          <a:lstStyle/>
          <a:p>
            <a:pPr indent="0" marL="0">
              <a:buNone/>
            </a:pPr>
            <a:r>
              <a:rPr lang="en-US" sz="2400" dirty="0">
                <a:solidFill>
                  <a:srgbClr val="0E0142"/>
                </a:solidFill>
                <a:latin typeface="Figtree" pitchFamily="34" charset="0"/>
                <a:ea typeface="Figtree" pitchFamily="34" charset="-122"/>
                <a:cs typeface="Figtree" pitchFamily="34" charset="-120"/>
              </a:rPr>
              <a:t>Fiction readers know that a story's conflict changes as the narrative progresses. They track the conflict as the plot progresses and ask themselves, "How does the conflict develop and intensify?"</a:t>
            </a:r>
            <a:endParaRPr lang="en-US" sz="2400" dirty="0"/>
          </a:p>
        </p:txBody>
      </p:sp>
      <p:sp>
        <p:nvSpPr>
          <p:cNvPr id="11" name="Text 9"/>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2" name="Text 10"/>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928AA"/>
        </a:solidFill>
      </p:bgPr>
    </p:bg>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FFFFFF"/>
                </a:solidFill>
                <a:latin typeface="Figtree" pitchFamily="34" charset="0"/>
                <a:ea typeface="Figtree" pitchFamily="34" charset="-122"/>
                <a:cs typeface="Figtree" pitchFamily="34" charset="-120"/>
              </a:rPr>
              <a:t>Lesson Vocabulary Review</a:t>
            </a:r>
            <a:endParaRPr lang="en-US" sz="3600" dirty="0"/>
          </a:p>
        </p:txBody>
      </p:sp>
      <p:sp>
        <p:nvSpPr>
          <p:cNvPr id="3" name="Shape 1"/>
          <p:cNvSpPr/>
          <p:nvPr/>
        </p:nvSpPr>
        <p:spPr>
          <a:xfrm>
            <a:off x="502920" y="1143000"/>
            <a:ext cx="5440680" cy="2468880"/>
          </a:xfrm>
          <a:prstGeom prst="roundRect">
            <a:avLst>
              <a:gd name="adj" fmla="val 2222"/>
            </a:avLst>
          </a:prstGeom>
          <a:solidFill>
            <a:srgbClr val="FFFFFF"/>
          </a:solidFill>
          <a:ln w="12700">
            <a:solidFill>
              <a:srgbClr val="F19A65"/>
            </a:solidFill>
            <a:prstDash val="solid"/>
          </a:ln>
        </p:spPr>
      </p:sp>
      <p:pic>
        <p:nvPicPr>
          <p:cNvPr id="4" name="Image 0" descr="Lesson_6a_S9.pptx_build_tmp/icons/internal.png">    </p:cNvPr>
          <p:cNvPicPr>
            <a:picLocks noChangeAspect="1"/>
          </p:cNvPicPr>
          <p:nvPr/>
        </p:nvPicPr>
        <p:blipFill>
          <a:blip r:embed="rId1"/>
          <a:stretch>
            <a:fillRect/>
          </a:stretch>
        </p:blipFill>
        <p:spPr>
          <a:xfrm>
            <a:off x="685800" y="1325880"/>
            <a:ext cx="502920" cy="502920"/>
          </a:xfrm>
          <a:prstGeom prst="rect">
            <a:avLst/>
          </a:prstGeom>
        </p:spPr>
      </p:pic>
      <p:sp>
        <p:nvSpPr>
          <p:cNvPr id="5" name="Text 2"/>
          <p:cNvSpPr/>
          <p:nvPr/>
        </p:nvSpPr>
        <p:spPr>
          <a:xfrm>
            <a:off x="1325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internal</a:t>
            </a:r>
            <a:endParaRPr lang="en-US" sz="2400" dirty="0"/>
          </a:p>
        </p:txBody>
      </p:sp>
      <p:sp>
        <p:nvSpPr>
          <p:cNvPr id="6" name="Text 3"/>
          <p:cNvSpPr/>
          <p:nvPr/>
        </p:nvSpPr>
        <p:spPr>
          <a:xfrm>
            <a:off x="685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Coming from inside of oneself.</a:t>
            </a:r>
            <a:endParaRPr lang="en-US" sz="2150" dirty="0"/>
          </a:p>
        </p:txBody>
      </p:sp>
      <p:sp>
        <p:nvSpPr>
          <p:cNvPr id="7" name="Shape 4"/>
          <p:cNvSpPr/>
          <p:nvPr/>
        </p:nvSpPr>
        <p:spPr>
          <a:xfrm>
            <a:off x="6217920" y="1143000"/>
            <a:ext cx="5440680" cy="2468880"/>
          </a:xfrm>
          <a:prstGeom prst="roundRect">
            <a:avLst>
              <a:gd name="adj" fmla="val 2222"/>
            </a:avLst>
          </a:prstGeom>
          <a:solidFill>
            <a:srgbClr val="FFFFFF"/>
          </a:solidFill>
          <a:ln w="12700">
            <a:solidFill>
              <a:srgbClr val="F19A65"/>
            </a:solidFill>
            <a:prstDash val="solid"/>
          </a:ln>
        </p:spPr>
      </p:sp>
      <p:pic>
        <p:nvPicPr>
          <p:cNvPr id="8" name="Image 1" descr="Lesson_6a_S9.pptx_build_tmp/icons/external.png">    </p:cNvPr>
          <p:cNvPicPr>
            <a:picLocks noChangeAspect="1"/>
          </p:cNvPicPr>
          <p:nvPr/>
        </p:nvPicPr>
        <p:blipFill>
          <a:blip r:embed="rId2"/>
          <a:stretch>
            <a:fillRect/>
          </a:stretch>
        </p:blipFill>
        <p:spPr>
          <a:xfrm>
            <a:off x="6400800" y="1325880"/>
            <a:ext cx="502920" cy="502920"/>
          </a:xfrm>
          <a:prstGeom prst="rect">
            <a:avLst/>
          </a:prstGeom>
        </p:spPr>
      </p:pic>
      <p:sp>
        <p:nvSpPr>
          <p:cNvPr id="9" name="Text 5"/>
          <p:cNvSpPr/>
          <p:nvPr/>
        </p:nvSpPr>
        <p:spPr>
          <a:xfrm>
            <a:off x="7040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external</a:t>
            </a:r>
            <a:endParaRPr lang="en-US" sz="2400" dirty="0"/>
          </a:p>
        </p:txBody>
      </p:sp>
      <p:sp>
        <p:nvSpPr>
          <p:cNvPr id="10" name="Text 6"/>
          <p:cNvSpPr/>
          <p:nvPr/>
        </p:nvSpPr>
        <p:spPr>
          <a:xfrm>
            <a:off x="6400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Coming from outside of oneself.</a:t>
            </a:r>
            <a:endParaRPr lang="en-US" sz="2150" dirty="0"/>
          </a:p>
        </p:txBody>
      </p:sp>
      <p:sp>
        <p:nvSpPr>
          <p:cNvPr id="11" name="Shape 7"/>
          <p:cNvSpPr/>
          <p:nvPr/>
        </p:nvSpPr>
        <p:spPr>
          <a:xfrm>
            <a:off x="502920" y="3749040"/>
            <a:ext cx="5440680" cy="2468880"/>
          </a:xfrm>
          <a:prstGeom prst="roundRect">
            <a:avLst>
              <a:gd name="adj" fmla="val 2222"/>
            </a:avLst>
          </a:prstGeom>
          <a:solidFill>
            <a:srgbClr val="FFFFFF"/>
          </a:solidFill>
          <a:ln w="12700">
            <a:solidFill>
              <a:srgbClr val="F19A65"/>
            </a:solidFill>
            <a:prstDash val="solid"/>
          </a:ln>
        </p:spPr>
      </p:sp>
      <p:pic>
        <p:nvPicPr>
          <p:cNvPr id="12" name="Image 2" descr="Lesson_6a_S9.pptx_build_tmp/icons/isolated.png">    </p:cNvPr>
          <p:cNvPicPr>
            <a:picLocks noChangeAspect="1"/>
          </p:cNvPicPr>
          <p:nvPr/>
        </p:nvPicPr>
        <p:blipFill>
          <a:blip r:embed="rId3"/>
          <a:stretch>
            <a:fillRect/>
          </a:stretch>
        </p:blipFill>
        <p:spPr>
          <a:xfrm>
            <a:off x="685800" y="3931920"/>
            <a:ext cx="502920" cy="502920"/>
          </a:xfrm>
          <a:prstGeom prst="rect">
            <a:avLst/>
          </a:prstGeom>
        </p:spPr>
      </p:pic>
      <p:sp>
        <p:nvSpPr>
          <p:cNvPr id="13" name="Text 8"/>
          <p:cNvSpPr/>
          <p:nvPr/>
        </p:nvSpPr>
        <p:spPr>
          <a:xfrm>
            <a:off x="1325880" y="395020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isolated</a:t>
            </a:r>
            <a:endParaRPr lang="en-US" sz="2400" dirty="0"/>
          </a:p>
        </p:txBody>
      </p:sp>
      <p:sp>
        <p:nvSpPr>
          <p:cNvPr id="14" name="Text 9"/>
          <p:cNvSpPr/>
          <p:nvPr/>
        </p:nvSpPr>
        <p:spPr>
          <a:xfrm>
            <a:off x="685800" y="466344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Feeling distant and far from others. Feeling isolated often means you feel like you have to rely on yourself without the help of others.</a:t>
            </a:r>
            <a:endParaRPr lang="en-US" sz="2150" dirty="0"/>
          </a:p>
        </p:txBody>
      </p:sp>
      <p:sp>
        <p:nvSpPr>
          <p:cNvPr id="15" name="Text 10"/>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C9BEEB"/>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6" name="Text 11"/>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C9BEEB"/>
                </a:solidFill>
                <a:latin typeface="Figtree" pitchFamily="34" charset="0"/>
                <a:ea typeface="Figtree" pitchFamily="34" charset="-122"/>
                <a:cs typeface="Figtree" pitchFamily="34" charset="-120"/>
              </a:rPr>
              <a:t>11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2026-08-14T00:16:06Z</dcterms:created>
  <dcterms:modified xsi:type="dcterms:W3CDTF">2026-08-14T00:16:06Z</dcterms:modified>
</cp:coreProperties>
</file>
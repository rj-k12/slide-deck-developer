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esson_6b_S6.pptx_build_tmp/cover.png">    </p:cNvPr>
          <p:cNvPicPr>
            <a:picLocks noChangeAspect="1"/>
          </p:cNvPicPr>
          <p:nvPr/>
        </p:nvPicPr>
        <p:blipFill>
          <a:blip r:embed="rId1"/>
          <a:stretch>
            <a:fillRect/>
          </a:stretch>
        </p:blipFill>
        <p:spPr>
          <a:xfrm>
            <a:off x="0" y="0"/>
            <a:ext cx="1216152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928AA"/>
        </a:solidFill>
      </p:bgPr>
    </p:bg>
    <p:spTree>
      <p:nvGrpSpPr>
        <p:cNvPr id="1" name=""/>
        <p:cNvGrpSpPr/>
        <p:nvPr/>
      </p:nvGrpSpPr>
      <p:grpSpPr>
        <a:xfrm>
          <a:off x="0" y="0"/>
          <a:ext cx="0" cy="0"/>
          <a:chOff x="0" y="0"/>
          <a:chExt cx="0" cy="0"/>
        </a:xfrm>
      </p:grpSpPr>
      <p:sp>
        <p:nvSpPr>
          <p:cNvPr id="2" name="Shape 0"/>
          <p:cNvSpPr/>
          <p:nvPr/>
        </p:nvSpPr>
        <p:spPr>
          <a:xfrm>
            <a:off x="502920" y="548640"/>
            <a:ext cx="1737360" cy="502920"/>
          </a:xfrm>
          <a:prstGeom prst="roundRect">
            <a:avLst>
              <a:gd name="adj" fmla="val 50909"/>
            </a:avLst>
          </a:prstGeom>
          <a:solidFill>
            <a:srgbClr val="F19A65"/>
          </a:solidFill>
          <a:ln/>
        </p:spPr>
      </p:sp>
      <p:sp>
        <p:nvSpPr>
          <p:cNvPr id="3" name="Text 1"/>
          <p:cNvSpPr/>
          <p:nvPr/>
        </p:nvSpPr>
        <p:spPr>
          <a:xfrm>
            <a:off x="502920" y="548640"/>
            <a:ext cx="1737360" cy="502920"/>
          </a:xfrm>
          <a:prstGeom prst="rect">
            <a:avLst/>
          </a:prstGeom>
          <a:noFill/>
          <a:ln/>
        </p:spPr>
        <p:txBody>
          <a:bodyPr wrap="square" lIns="0" tIns="0" rIns="0" bIns="0" rtlCol="0" anchor="ctr"/>
          <a:lstStyle/>
          <a:p>
            <a:pPr algn="ctr" indent="0" marL="0">
              <a:buNone/>
            </a:pPr>
            <a:r>
              <a:rPr lang="en-US" sz="1600" b="1" dirty="0">
                <a:solidFill>
                  <a:srgbClr val="0E0142"/>
                </a:solidFill>
                <a:latin typeface="Figtree" pitchFamily="34" charset="0"/>
                <a:ea typeface="Figtree" pitchFamily="34" charset="-122"/>
                <a:cs typeface="Figtree" pitchFamily="34" charset="-120"/>
              </a:rPr>
              <a:t>LESSON 6b</a:t>
            </a:r>
            <a:endParaRPr lang="en-US" sz="1600" dirty="0"/>
          </a:p>
        </p:txBody>
      </p:sp>
      <p:sp>
        <p:nvSpPr>
          <p:cNvPr id="4" name="Text 2"/>
          <p:cNvSpPr/>
          <p:nvPr/>
        </p:nvSpPr>
        <p:spPr>
          <a:xfrm>
            <a:off x="502920" y="1188720"/>
            <a:ext cx="11155680" cy="1645920"/>
          </a:xfrm>
          <a:prstGeom prst="rect">
            <a:avLst/>
          </a:prstGeom>
          <a:noFill/>
          <a:ln/>
        </p:spPr>
        <p:txBody>
          <a:bodyPr wrap="square" lIns="0" tIns="0" rIns="0" bIns="0" rtlCol="0" anchor="t"/>
          <a:lstStyle/>
          <a:p>
            <a:pPr indent="0" marL="0">
              <a:buNone/>
            </a:pPr>
            <a:r>
              <a:rPr lang="en-US" sz="5000" b="1" dirty="0">
                <a:solidFill>
                  <a:srgbClr val="FFFFFF"/>
                </a:solidFill>
                <a:latin typeface="Figtree" pitchFamily="34" charset="0"/>
                <a:ea typeface="Figtree" pitchFamily="34" charset="-122"/>
                <a:cs typeface="Figtree" pitchFamily="34" charset="-120"/>
              </a:rPr>
              <a:t>Lesson 6b: Literature Response</a:t>
            </a:r>
            <a:endParaRPr lang="en-US" sz="5000" dirty="0"/>
          </a:p>
        </p:txBody>
      </p:sp>
      <p:sp>
        <p:nvSpPr>
          <p:cNvPr id="5" name="Text 3"/>
          <p:cNvSpPr/>
          <p:nvPr/>
        </p:nvSpPr>
        <p:spPr>
          <a:xfrm>
            <a:off x="502920" y="3063240"/>
            <a:ext cx="11155680" cy="1005840"/>
          </a:xfrm>
          <a:prstGeom prst="rect">
            <a:avLst/>
          </a:prstGeom>
          <a:noFill/>
          <a:ln/>
        </p:spPr>
        <p:txBody>
          <a:bodyPr wrap="square" lIns="0" tIns="0" rIns="0" bIns="0" rtlCol="0" anchor="t"/>
          <a:lstStyle/>
          <a:p>
            <a:pPr indent="0" marL="0">
              <a:buNone/>
            </a:pPr>
            <a:r>
              <a:rPr lang="en-US" sz="2550" dirty="0">
                <a:solidFill>
                  <a:srgbClr val="E5EFF9"/>
                </a:solidFill>
                <a:latin typeface="Figtree" pitchFamily="34" charset="0"/>
                <a:ea typeface="Figtree" pitchFamily="34" charset="-122"/>
                <a:cs typeface="Figtree" pitchFamily="34" charset="-120"/>
              </a:rPr>
              <a:t>Grade 4, Knowledge Unit 2: A Road to Belonging: The Great Migration</a:t>
            </a:r>
            <a:endParaRPr lang="en-US" sz="2550" dirty="0"/>
          </a:p>
        </p:txBody>
      </p:sp>
      <p:sp>
        <p:nvSpPr>
          <p:cNvPr id="6" name="Text 4"/>
          <p:cNvSpPr/>
          <p:nvPr/>
        </p:nvSpPr>
        <p:spPr>
          <a:xfrm>
            <a:off x="502920" y="4251960"/>
            <a:ext cx="11155680" cy="548640"/>
          </a:xfrm>
          <a:prstGeom prst="rect">
            <a:avLst/>
          </a:prstGeom>
          <a:noFill/>
          <a:ln/>
        </p:spPr>
        <p:txBody>
          <a:bodyPr wrap="square" lIns="0" tIns="0" rIns="0" bIns="0" rtlCol="0" anchor="t"/>
          <a:lstStyle/>
          <a:p>
            <a:pPr indent="0" marL="0">
              <a:buNone/>
            </a:pPr>
            <a:r>
              <a:rPr lang="en-US" sz="2150" i="1" dirty="0">
                <a:solidFill>
                  <a:srgbClr val="C9BEEB"/>
                </a:solidFill>
                <a:latin typeface="Figtree" pitchFamily="34" charset="0"/>
                <a:ea typeface="Figtree" pitchFamily="34" charset="-122"/>
                <a:cs typeface="Figtree" pitchFamily="34" charset="-120"/>
              </a:rPr>
              <a:t>Finding Langston  by Lesa Cline-Ransome</a:t>
            </a:r>
            <a:endParaRPr lang="en-US" sz="2150" dirty="0"/>
          </a:p>
        </p:txBody>
      </p:sp>
      <p:sp>
        <p:nvSpPr>
          <p:cNvPr id="7" name="Text 5"/>
          <p:cNvSpPr/>
          <p:nvPr/>
        </p:nvSpPr>
        <p:spPr>
          <a:xfrm>
            <a:off x="502920" y="6400800"/>
            <a:ext cx="10515600" cy="274320"/>
          </a:xfrm>
          <a:prstGeom prst="rect">
            <a:avLst/>
          </a:prstGeom>
          <a:noFill/>
          <a:ln/>
        </p:spPr>
        <p:txBody>
          <a:bodyPr wrap="square" lIns="0" tIns="0" rIns="0" bIns="0" rtlCol="0" anchor="ctr"/>
          <a:lstStyle/>
          <a:p>
            <a:pPr indent="0" marL="0">
              <a:buNone/>
            </a:pPr>
            <a:r>
              <a:rPr lang="en-US" sz="1000" dirty="0">
                <a:solidFill>
                  <a:srgbClr val="9A8FD1"/>
                </a:solidFill>
                <a:latin typeface="Figtree" pitchFamily="34" charset="0"/>
                <a:ea typeface="Figtree" pitchFamily="34" charset="-122"/>
                <a:cs typeface="Figtree" pitchFamily="34" charset="-120"/>
              </a:rPr>
              <a:t>Copyright © 2026 Lavinia Group. All Rights Reserved. RedThread is a trademark of K12 Coalition.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502920"/>
            <a:ext cx="54864" cy="1234440"/>
          </a:xfrm>
          <a:prstGeom prst="rect">
            <a:avLst/>
          </a:prstGeom>
          <a:solidFill>
            <a:srgbClr val="3928AA"/>
          </a:solidFill>
          <a:ln/>
        </p:spPr>
      </p:sp>
      <p:sp>
        <p:nvSpPr>
          <p:cNvPr id="3" name="Shape 1"/>
          <p:cNvSpPr/>
          <p:nvPr/>
        </p:nvSpPr>
        <p:spPr>
          <a:xfrm>
            <a:off x="557784" y="502920"/>
            <a:ext cx="11064240" cy="1234440"/>
          </a:xfrm>
          <a:prstGeom prst="rect">
            <a:avLst/>
          </a:prstGeom>
          <a:solidFill>
            <a:srgbClr val="FFF3CB"/>
          </a:solidFill>
          <a:ln/>
        </p:spPr>
      </p:sp>
      <p:sp>
        <p:nvSpPr>
          <p:cNvPr id="4" name="Text 2"/>
          <p:cNvSpPr/>
          <p:nvPr/>
        </p:nvSpPr>
        <p:spPr>
          <a:xfrm>
            <a:off x="777240" y="640080"/>
            <a:ext cx="10698480" cy="274320"/>
          </a:xfrm>
          <a:prstGeom prst="rect">
            <a:avLst/>
          </a:prstGeom>
          <a:noFill/>
          <a:ln/>
        </p:spPr>
        <p:txBody>
          <a:bodyPr wrap="square" lIns="0" tIns="0" rIns="0" bIns="0" rtlCol="0" anchor="ctr"/>
          <a:lstStyle/>
          <a:p>
            <a:pPr indent="0" marL="0">
              <a:buNone/>
            </a:pPr>
            <a:r>
              <a:rPr lang="en-US" sz="1850" b="1" dirty="0">
                <a:solidFill>
                  <a:srgbClr val="3928AA"/>
                </a:solidFill>
                <a:latin typeface="Figtree" pitchFamily="34" charset="0"/>
                <a:ea typeface="Figtree" pitchFamily="34" charset="-122"/>
                <a:cs typeface="Figtree" pitchFamily="34" charset="-120"/>
              </a:rPr>
              <a:t>ESSENTIAL QUESTION</a:t>
            </a:r>
            <a:endParaRPr lang="en-US" sz="1850" dirty="0"/>
          </a:p>
        </p:txBody>
      </p:sp>
      <p:sp>
        <p:nvSpPr>
          <p:cNvPr id="5" name="Text 3"/>
          <p:cNvSpPr/>
          <p:nvPr/>
        </p:nvSpPr>
        <p:spPr>
          <a:xfrm>
            <a:off x="777240" y="960120"/>
            <a:ext cx="10698480" cy="731520"/>
          </a:xfrm>
          <a:prstGeom prst="rect">
            <a:avLst/>
          </a:prstGeom>
          <a:noFill/>
          <a:ln/>
        </p:spPr>
        <p:txBody>
          <a:bodyPr wrap="square" lIns="0" tIns="0" rIns="0" bIns="0" rtlCol="0" anchor="t"/>
          <a:lstStyle/>
          <a:p>
            <a:pPr indent="0" marL="0">
              <a:buNone/>
            </a:pPr>
            <a:r>
              <a:rPr lang="en-US" sz="2400" b="1" dirty="0">
                <a:solidFill>
                  <a:srgbClr val="0E0142"/>
                </a:solidFill>
                <a:latin typeface="Figtree" pitchFamily="34" charset="0"/>
                <a:ea typeface="Figtree" pitchFamily="34" charset="-122"/>
                <a:cs typeface="Figtree" pitchFamily="34" charset="-120"/>
              </a:rPr>
              <a:t>How do narrative writers use event sequences and descriptive details to craft a compelling story?</a:t>
            </a:r>
            <a:endParaRPr lang="en-US" sz="2400" dirty="0"/>
          </a:p>
        </p:txBody>
      </p:sp>
      <p:sp>
        <p:nvSpPr>
          <p:cNvPr id="6" name="Shape 4"/>
          <p:cNvSpPr/>
          <p:nvPr/>
        </p:nvSpPr>
        <p:spPr>
          <a:xfrm>
            <a:off x="502920" y="1965960"/>
            <a:ext cx="5486400" cy="45720"/>
          </a:xfrm>
          <a:prstGeom prst="rect">
            <a:avLst/>
          </a:prstGeom>
          <a:solidFill>
            <a:srgbClr val="F19A65"/>
          </a:solidFill>
          <a:ln/>
        </p:spPr>
      </p:sp>
      <p:sp>
        <p:nvSpPr>
          <p:cNvPr id="7" name="Shape 5"/>
          <p:cNvSpPr/>
          <p:nvPr/>
        </p:nvSpPr>
        <p:spPr>
          <a:xfrm>
            <a:off x="502920" y="2011680"/>
            <a:ext cx="5486400" cy="4114800"/>
          </a:xfrm>
          <a:prstGeom prst="rect">
            <a:avLst/>
          </a:prstGeom>
          <a:solidFill>
            <a:srgbClr val="FFFFFF"/>
          </a:solidFill>
          <a:ln w="12700">
            <a:solidFill>
              <a:srgbClr val="E5EFF9"/>
            </a:solidFill>
            <a:prstDash val="solid"/>
          </a:ln>
        </p:spPr>
      </p:sp>
      <p:sp>
        <p:nvSpPr>
          <p:cNvPr id="8" name="Text 6"/>
          <p:cNvSpPr/>
          <p:nvPr/>
        </p:nvSpPr>
        <p:spPr>
          <a:xfrm>
            <a:off x="685800" y="2194560"/>
            <a:ext cx="5120640" cy="274320"/>
          </a:xfrm>
          <a:prstGeom prst="rect">
            <a:avLst/>
          </a:prstGeom>
          <a:noFill/>
          <a:ln/>
        </p:spPr>
        <p:txBody>
          <a:bodyPr wrap="square" lIns="0" tIns="0" rIns="0" bIns="0" rtlCol="0" anchor="ctr"/>
          <a:lstStyle/>
          <a:p>
            <a:pPr indent="0" marL="0">
              <a:buNone/>
            </a:pPr>
            <a:r>
              <a:rPr lang="en-US" sz="1850" b="1" dirty="0">
                <a:solidFill>
                  <a:srgbClr val="F19A65"/>
                </a:solidFill>
                <a:latin typeface="Figtree" pitchFamily="34" charset="0"/>
                <a:ea typeface="Figtree" pitchFamily="34" charset="-122"/>
                <a:cs typeface="Figtree" pitchFamily="34" charset="-120"/>
              </a:rPr>
              <a:t>TEACHING POINT</a:t>
            </a:r>
            <a:endParaRPr lang="en-US" sz="1850" dirty="0"/>
          </a:p>
        </p:txBody>
      </p:sp>
      <p:sp>
        <p:nvSpPr>
          <p:cNvPr id="9" name="Text 7"/>
          <p:cNvSpPr/>
          <p:nvPr/>
        </p:nvSpPr>
        <p:spPr>
          <a:xfrm>
            <a:off x="685800" y="2514600"/>
            <a:ext cx="5120640" cy="3429000"/>
          </a:xfrm>
          <a:prstGeom prst="rect">
            <a:avLst/>
          </a:prstGeom>
          <a:noFill/>
          <a:ln/>
        </p:spPr>
        <p:txBody>
          <a:bodyPr wrap="square" lIns="0" tIns="0" rIns="0" bIns="0" rtlCol="0" anchor="t"/>
          <a:lstStyle/>
          <a:p>
            <a:pPr indent="0" marL="0">
              <a:buNone/>
            </a:pPr>
            <a:r>
              <a:rPr lang="en-US" sz="2400" dirty="0">
                <a:solidFill>
                  <a:srgbClr val="33322E"/>
                </a:solidFill>
                <a:latin typeface="Figtree" pitchFamily="34" charset="0"/>
                <a:ea typeface="Figtree" pitchFamily="34" charset="-122"/>
                <a:cs typeface="Figtree" pitchFamily="34" charset="-120"/>
              </a:rPr>
              <a:t>Writers study a prompt and respond with a claim that states their idea. They ask themselves, "What does this prompt want me to do? What do I need to include in my claim to answer all parts of the prompt?"</a:t>
            </a:r>
            <a:endParaRPr lang="en-US" sz="2400" dirty="0"/>
          </a:p>
        </p:txBody>
      </p:sp>
      <p:sp>
        <p:nvSpPr>
          <p:cNvPr id="10" name="Shape 8"/>
          <p:cNvSpPr/>
          <p:nvPr/>
        </p:nvSpPr>
        <p:spPr>
          <a:xfrm>
            <a:off x="6172200" y="1965960"/>
            <a:ext cx="5486400" cy="45720"/>
          </a:xfrm>
          <a:prstGeom prst="rect">
            <a:avLst/>
          </a:prstGeom>
          <a:solidFill>
            <a:srgbClr val="3928AA"/>
          </a:solidFill>
          <a:ln/>
        </p:spPr>
      </p:sp>
      <p:sp>
        <p:nvSpPr>
          <p:cNvPr id="11" name="Shape 9"/>
          <p:cNvSpPr/>
          <p:nvPr/>
        </p:nvSpPr>
        <p:spPr>
          <a:xfrm>
            <a:off x="6172200" y="2011680"/>
            <a:ext cx="5486400" cy="4114800"/>
          </a:xfrm>
          <a:prstGeom prst="rect">
            <a:avLst/>
          </a:prstGeom>
          <a:solidFill>
            <a:srgbClr val="F4F2FC"/>
          </a:solidFill>
          <a:ln w="12700">
            <a:solidFill>
              <a:srgbClr val="3928AA"/>
            </a:solidFill>
            <a:prstDash val="dash"/>
          </a:ln>
        </p:spPr>
      </p:sp>
      <p:sp>
        <p:nvSpPr>
          <p:cNvPr id="12" name="Text 10"/>
          <p:cNvSpPr/>
          <p:nvPr/>
        </p:nvSpPr>
        <p:spPr>
          <a:xfrm>
            <a:off x="6355080" y="2194560"/>
            <a:ext cx="5120640" cy="274320"/>
          </a:xfrm>
          <a:prstGeom prst="rect">
            <a:avLst/>
          </a:prstGeom>
          <a:noFill/>
          <a:ln/>
        </p:spPr>
        <p:txBody>
          <a:bodyPr wrap="square" lIns="0" tIns="0" rIns="0" bIns="0" rtlCol="0" anchor="ctr"/>
          <a:lstStyle/>
          <a:p>
            <a:pPr indent="0" marL="0">
              <a:buNone/>
            </a:pPr>
            <a:r>
              <a:rPr lang="en-US" sz="1850" b="1" dirty="0">
                <a:solidFill>
                  <a:srgbClr val="3928AA"/>
                </a:solidFill>
                <a:latin typeface="Figtree" pitchFamily="34" charset="0"/>
                <a:ea typeface="Figtree" pitchFamily="34" charset="-122"/>
                <a:cs typeface="Figtree" pitchFamily="34" charset="-120"/>
              </a:rPr>
              <a:t>LANGUAGE GOAL</a:t>
            </a:r>
            <a:endParaRPr lang="en-US" sz="1850" dirty="0"/>
          </a:p>
        </p:txBody>
      </p:sp>
      <p:sp>
        <p:nvSpPr>
          <p:cNvPr id="13" name="Text 11"/>
          <p:cNvSpPr/>
          <p:nvPr/>
        </p:nvSpPr>
        <p:spPr>
          <a:xfrm>
            <a:off x="6355080" y="2514600"/>
            <a:ext cx="5120640" cy="3429000"/>
          </a:xfrm>
          <a:prstGeom prst="rect">
            <a:avLst/>
          </a:prstGeom>
          <a:noFill/>
          <a:ln/>
        </p:spPr>
        <p:txBody>
          <a:bodyPr wrap="square" lIns="0" tIns="0" rIns="0" bIns="0" rtlCol="0" anchor="t"/>
          <a:lstStyle/>
          <a:p>
            <a:pPr indent="0" marL="0">
              <a:buNone/>
            </a:pPr>
            <a:r>
              <a:rPr lang="en-US" sz="1600" i="1" dirty="0">
                <a:solidFill>
                  <a:srgbClr val="6B6478"/>
                </a:solidFill>
                <a:latin typeface="Figtree" pitchFamily="34" charset="0"/>
                <a:ea typeface="Figtree" pitchFamily="34" charset="-122"/>
                <a:cs typeface="Figtree" pitchFamily="34" charset="-120"/>
              </a:rPr>
              <a:t>Not specified in this lesson's source material.</a:t>
            </a:r>
            <a:endParaRPr lang="en-US" sz="1600" dirty="0"/>
          </a:p>
        </p:txBody>
      </p:sp>
      <p:sp>
        <p:nvSpPr>
          <p:cNvPr id="14" name="Text 12"/>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5" name="Text 13"/>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Engage Vocabulary</a:t>
            </a:r>
            <a:endParaRPr lang="en-US" sz="3600" dirty="0"/>
          </a:p>
        </p:txBody>
      </p:sp>
      <p:sp>
        <p:nvSpPr>
          <p:cNvPr id="3" name="Shape 1"/>
          <p:cNvSpPr/>
          <p:nvPr/>
        </p:nvSpPr>
        <p:spPr>
          <a:xfrm>
            <a:off x="502920" y="1143000"/>
            <a:ext cx="5440680" cy="2468880"/>
          </a:xfrm>
          <a:prstGeom prst="roundRect">
            <a:avLst>
              <a:gd name="adj" fmla="val 2222"/>
            </a:avLst>
          </a:prstGeom>
          <a:solidFill>
            <a:srgbClr val="FFDBC5"/>
          </a:solidFill>
          <a:ln/>
        </p:spPr>
      </p:sp>
      <p:pic>
        <p:nvPicPr>
          <p:cNvPr id="4" name="Image 0" descr="Lesson_6b_S6.pptx_build_tmp/icons/compelling.png">    </p:cNvPr>
          <p:cNvPicPr>
            <a:picLocks noChangeAspect="1"/>
          </p:cNvPicPr>
          <p:nvPr/>
        </p:nvPicPr>
        <p:blipFill>
          <a:blip r:embed="rId1"/>
          <a:stretch>
            <a:fillRect/>
          </a:stretch>
        </p:blipFill>
        <p:spPr>
          <a:xfrm>
            <a:off x="685800" y="1325880"/>
            <a:ext cx="502920" cy="502920"/>
          </a:xfrm>
          <a:prstGeom prst="rect">
            <a:avLst/>
          </a:prstGeom>
        </p:spPr>
      </p:pic>
      <p:sp>
        <p:nvSpPr>
          <p:cNvPr id="5" name="Text 2"/>
          <p:cNvSpPr/>
          <p:nvPr/>
        </p:nvSpPr>
        <p:spPr>
          <a:xfrm>
            <a:off x="1325880" y="134416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compelling</a:t>
            </a:r>
            <a:endParaRPr lang="en-US" sz="2400" dirty="0"/>
          </a:p>
        </p:txBody>
      </p:sp>
      <p:sp>
        <p:nvSpPr>
          <p:cNvPr id="6" name="Text 3"/>
          <p:cNvSpPr/>
          <p:nvPr/>
        </p:nvSpPr>
        <p:spPr>
          <a:xfrm>
            <a:off x="685800" y="205740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Engaging, convincing, or thought-provoking.</a:t>
            </a:r>
            <a:endParaRPr lang="en-US" sz="2150" dirty="0"/>
          </a:p>
        </p:txBody>
      </p:sp>
      <p:sp>
        <p:nvSpPr>
          <p:cNvPr id="7" name="Text 4"/>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8" name="Text 5"/>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platform_verify/assets/decorative_bg.png">    </p:cNvPr>
          <p:cNvPicPr>
            <a:picLocks noChangeAspect="1"/>
          </p:cNvPicPr>
          <p:nvPr/>
        </p:nvPicPr>
        <p:blipFill>
          <a:blip r:embed="rId1"/>
          <a:stretch>
            <a:fillRect/>
          </a:stretch>
        </p:blipFill>
        <p:spPr>
          <a:xfrm>
            <a:off x="7284750" y="0"/>
            <a:ext cx="4876770" cy="4207886"/>
          </a:xfrm>
          <a:prstGeom prst="rect">
            <a:avLst/>
          </a:prstGeom>
        </p:spPr>
      </p:pic>
      <p:sp>
        <p:nvSpPr>
          <p:cNvPr id="3"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Launch Vocabulary</a:t>
            </a:r>
            <a:endParaRPr lang="en-US" sz="3600" dirty="0"/>
          </a:p>
        </p:txBody>
      </p:sp>
      <p:sp>
        <p:nvSpPr>
          <p:cNvPr id="4" name="Shape 1"/>
          <p:cNvSpPr/>
          <p:nvPr/>
        </p:nvSpPr>
        <p:spPr>
          <a:xfrm>
            <a:off x="502920" y="1143000"/>
            <a:ext cx="5440680" cy="2468880"/>
          </a:xfrm>
          <a:prstGeom prst="roundRect">
            <a:avLst>
              <a:gd name="adj" fmla="val 2222"/>
            </a:avLst>
          </a:prstGeom>
          <a:solidFill>
            <a:srgbClr val="FFDBC5"/>
          </a:solidFill>
          <a:ln/>
        </p:spPr>
      </p:sp>
      <p:pic>
        <p:nvPicPr>
          <p:cNvPr id="5" name="Image 1" descr="Lesson_6b_S6.pptx_build_tmp/icons/ensure.png">    </p:cNvPr>
          <p:cNvPicPr>
            <a:picLocks noChangeAspect="1"/>
          </p:cNvPicPr>
          <p:nvPr/>
        </p:nvPicPr>
        <p:blipFill>
          <a:blip r:embed="rId2"/>
          <a:stretch>
            <a:fillRect/>
          </a:stretch>
        </p:blipFill>
        <p:spPr>
          <a:xfrm>
            <a:off x="685800" y="1325880"/>
            <a:ext cx="502920" cy="502920"/>
          </a:xfrm>
          <a:prstGeom prst="rect">
            <a:avLst/>
          </a:prstGeom>
        </p:spPr>
      </p:pic>
      <p:sp>
        <p:nvSpPr>
          <p:cNvPr id="6" name="Text 2"/>
          <p:cNvSpPr/>
          <p:nvPr/>
        </p:nvSpPr>
        <p:spPr>
          <a:xfrm>
            <a:off x="1325880" y="134416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ensure</a:t>
            </a:r>
            <a:endParaRPr lang="en-US" sz="2400" dirty="0"/>
          </a:p>
        </p:txBody>
      </p:sp>
      <p:sp>
        <p:nvSpPr>
          <p:cNvPr id="7" name="Text 3"/>
          <p:cNvSpPr/>
          <p:nvPr/>
        </p:nvSpPr>
        <p:spPr>
          <a:xfrm>
            <a:off x="685800" y="205740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To make sure or certain.</a:t>
            </a:r>
            <a:endParaRPr lang="en-US" sz="2150" dirty="0"/>
          </a:p>
        </p:txBody>
      </p:sp>
      <p:sp>
        <p:nvSpPr>
          <p:cNvPr id="8" name="Shape 4"/>
          <p:cNvSpPr/>
          <p:nvPr/>
        </p:nvSpPr>
        <p:spPr>
          <a:xfrm>
            <a:off x="6217920" y="1143000"/>
            <a:ext cx="5440680" cy="2468880"/>
          </a:xfrm>
          <a:prstGeom prst="roundRect">
            <a:avLst>
              <a:gd name="adj" fmla="val 2222"/>
            </a:avLst>
          </a:prstGeom>
          <a:solidFill>
            <a:srgbClr val="FFDBC5"/>
          </a:solidFill>
          <a:ln/>
        </p:spPr>
      </p:sp>
      <p:pic>
        <p:nvPicPr>
          <p:cNvPr id="9" name="Image 2" descr="Lesson_6b_S6.pptx_build_tmp/icons/evaluate.png">    </p:cNvPr>
          <p:cNvPicPr>
            <a:picLocks noChangeAspect="1"/>
          </p:cNvPicPr>
          <p:nvPr/>
        </p:nvPicPr>
        <p:blipFill>
          <a:blip r:embed="rId3"/>
          <a:stretch>
            <a:fillRect/>
          </a:stretch>
        </p:blipFill>
        <p:spPr>
          <a:xfrm>
            <a:off x="6400800" y="1325880"/>
            <a:ext cx="502920" cy="502920"/>
          </a:xfrm>
          <a:prstGeom prst="rect">
            <a:avLst/>
          </a:prstGeom>
        </p:spPr>
      </p:pic>
      <p:sp>
        <p:nvSpPr>
          <p:cNvPr id="10" name="Text 5"/>
          <p:cNvSpPr/>
          <p:nvPr/>
        </p:nvSpPr>
        <p:spPr>
          <a:xfrm>
            <a:off x="7040880" y="134416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evaluate</a:t>
            </a:r>
            <a:endParaRPr lang="en-US" sz="2400" dirty="0"/>
          </a:p>
        </p:txBody>
      </p:sp>
      <p:sp>
        <p:nvSpPr>
          <p:cNvPr id="11" name="Text 6"/>
          <p:cNvSpPr/>
          <p:nvPr/>
        </p:nvSpPr>
        <p:spPr>
          <a:xfrm>
            <a:off x="6400800" y="205740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To study something and determine its level of accuracy, completion, and opportunities for improvement.</a:t>
            </a:r>
            <a:endParaRPr lang="en-US" sz="2150" dirty="0"/>
          </a:p>
        </p:txBody>
      </p:sp>
      <p:sp>
        <p:nvSpPr>
          <p:cNvPr id="12" name="Shape 7"/>
          <p:cNvSpPr/>
          <p:nvPr/>
        </p:nvSpPr>
        <p:spPr>
          <a:xfrm>
            <a:off x="502920" y="3749040"/>
            <a:ext cx="5440680" cy="2468880"/>
          </a:xfrm>
          <a:prstGeom prst="roundRect">
            <a:avLst>
              <a:gd name="adj" fmla="val 2222"/>
            </a:avLst>
          </a:prstGeom>
          <a:solidFill>
            <a:srgbClr val="FFDBC5"/>
          </a:solidFill>
          <a:ln/>
        </p:spPr>
      </p:sp>
      <p:pic>
        <p:nvPicPr>
          <p:cNvPr id="13" name="Image 3" descr="Lesson_6b_S6.pptx_build_tmp/icons/evolve.png">    </p:cNvPr>
          <p:cNvPicPr>
            <a:picLocks noChangeAspect="1"/>
          </p:cNvPicPr>
          <p:nvPr/>
        </p:nvPicPr>
        <p:blipFill>
          <a:blip r:embed="rId4"/>
          <a:stretch>
            <a:fillRect/>
          </a:stretch>
        </p:blipFill>
        <p:spPr>
          <a:xfrm>
            <a:off x="685800" y="3931920"/>
            <a:ext cx="502920" cy="502920"/>
          </a:xfrm>
          <a:prstGeom prst="rect">
            <a:avLst/>
          </a:prstGeom>
        </p:spPr>
      </p:pic>
      <p:sp>
        <p:nvSpPr>
          <p:cNvPr id="14" name="Text 8"/>
          <p:cNvSpPr/>
          <p:nvPr/>
        </p:nvSpPr>
        <p:spPr>
          <a:xfrm>
            <a:off x="1325880" y="395020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evolve</a:t>
            </a:r>
            <a:endParaRPr lang="en-US" sz="2400" dirty="0"/>
          </a:p>
        </p:txBody>
      </p:sp>
      <p:sp>
        <p:nvSpPr>
          <p:cNvPr id="15" name="Text 9"/>
          <p:cNvSpPr/>
          <p:nvPr/>
        </p:nvSpPr>
        <p:spPr>
          <a:xfrm>
            <a:off x="685800" y="466344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To change over time.</a:t>
            </a:r>
            <a:endParaRPr lang="en-US" sz="2150" dirty="0"/>
          </a:p>
        </p:txBody>
      </p:sp>
      <p:sp>
        <p:nvSpPr>
          <p:cNvPr id="16" name="Text 10"/>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7" name="Text 11"/>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Launch Mentor Prompt</a:t>
            </a:r>
            <a:endParaRPr lang="en-US" sz="3600" dirty="0"/>
          </a:p>
        </p:txBody>
      </p:sp>
      <p:sp>
        <p:nvSpPr>
          <p:cNvPr id="3" name="Shape 1"/>
          <p:cNvSpPr/>
          <p:nvPr/>
        </p:nvSpPr>
        <p:spPr>
          <a:xfrm>
            <a:off x="502920" y="1371600"/>
            <a:ext cx="11155680" cy="2011680"/>
          </a:xfrm>
          <a:prstGeom prst="roundRect">
            <a:avLst>
              <a:gd name="adj" fmla="val 2727"/>
            </a:avLst>
          </a:prstGeom>
          <a:solidFill>
            <a:srgbClr val="FDEEF2"/>
          </a:solidFill>
          <a:ln w="19050">
            <a:solidFill>
              <a:srgbClr val="ED6A91"/>
            </a:solidFill>
            <a:prstDash val="dash"/>
          </a:ln>
        </p:spPr>
      </p:sp>
      <p:sp>
        <p:nvSpPr>
          <p:cNvPr id="4" name="Text 2"/>
          <p:cNvSpPr/>
          <p:nvPr/>
        </p:nvSpPr>
        <p:spPr>
          <a:xfrm>
            <a:off x="777240" y="1508760"/>
            <a:ext cx="10607040" cy="1737360"/>
          </a:xfrm>
          <a:prstGeom prst="rect">
            <a:avLst/>
          </a:prstGeom>
          <a:noFill/>
          <a:ln/>
        </p:spPr>
        <p:txBody>
          <a:bodyPr wrap="square" lIns="0" tIns="0" rIns="0" bIns="0" rtlCol="0" anchor="t"/>
          <a:lstStyle/>
          <a:p>
            <a:pPr indent="0" marL="0">
              <a:buNone/>
            </a:pPr>
            <a:r>
              <a:rPr lang="en-US" sz="2400" b="1" dirty="0">
                <a:solidFill>
                  <a:srgbClr val="3928AA"/>
                </a:solidFill>
                <a:latin typeface="Figtree" pitchFamily="34" charset="0"/>
                <a:ea typeface="Figtree" pitchFamily="34" charset="-122"/>
                <a:cs typeface="Figtree" pitchFamily="34" charset="-120"/>
              </a:rPr>
              <a:t>Prompt: </a:t>
            </a:r>
            <a:pPr indent="0" marL="0">
              <a:buNone/>
            </a:pPr>
            <a:r>
              <a:rPr lang="en-US" sz="2400" dirty="0">
                <a:solidFill>
                  <a:srgbClr val="0E0142"/>
                </a:solidFill>
                <a:latin typeface="Figtree" pitchFamily="34" charset="0"/>
                <a:ea typeface="Figtree" pitchFamily="34" charset="-122"/>
                <a:cs typeface="Figtree" pitchFamily="34" charset="-120"/>
              </a:rPr>
              <a:t>How does the setting of the library impact Langston?</a:t>
            </a:r>
            <a:endParaRPr lang="en-US" sz="2400" dirty="0"/>
          </a:p>
        </p:txBody>
      </p:sp>
      <p:sp>
        <p:nvSpPr>
          <p:cNvPr id="5" name="Text 3"/>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6" name="Text 4"/>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Launch Claims to Evaluate</a:t>
            </a:r>
            <a:endParaRPr lang="en-US" sz="3600" dirty="0"/>
          </a:p>
        </p:txBody>
      </p:sp>
      <p:sp>
        <p:nvSpPr>
          <p:cNvPr id="3" name="Shape 1"/>
          <p:cNvSpPr/>
          <p:nvPr/>
        </p:nvSpPr>
        <p:spPr>
          <a:xfrm>
            <a:off x="502920" y="1280160"/>
            <a:ext cx="11155680" cy="1188720"/>
          </a:xfrm>
          <a:prstGeom prst="roundRect">
            <a:avLst>
              <a:gd name="adj" fmla="val 4615"/>
            </a:avLst>
          </a:prstGeom>
          <a:solidFill>
            <a:srgbClr val="FFDBC5"/>
          </a:solidFill>
          <a:ln/>
        </p:spPr>
      </p:sp>
      <p:sp>
        <p:nvSpPr>
          <p:cNvPr id="4" name="Text 2"/>
          <p:cNvSpPr/>
          <p:nvPr/>
        </p:nvSpPr>
        <p:spPr>
          <a:xfrm>
            <a:off x="731520" y="1389888"/>
            <a:ext cx="10698480" cy="960120"/>
          </a:xfrm>
          <a:prstGeom prst="rect">
            <a:avLst/>
          </a:prstGeom>
          <a:noFill/>
          <a:ln/>
        </p:spPr>
        <p:txBody>
          <a:bodyPr wrap="square" lIns="0" tIns="0" rIns="0" bIns="0" rtlCol="0" anchor="t"/>
          <a:lstStyle/>
          <a:p>
            <a:pPr indent="0" marL="0">
              <a:buNone/>
            </a:pPr>
            <a:r>
              <a:rPr lang="en-US" sz="2150" dirty="0">
                <a:solidFill>
                  <a:srgbClr val="0E0142"/>
                </a:solidFill>
                <a:latin typeface="Figtree" pitchFamily="34" charset="0"/>
                <a:ea typeface="Figtree" pitchFamily="34" charset="-122"/>
                <a:cs typeface="Figtree" pitchFamily="34" charset="-120"/>
              </a:rPr>
              <a:t>Claim #1: When Langston is at the library, he sees a bright ceiling and librarians.</a:t>
            </a:r>
            <a:endParaRPr lang="en-US" sz="2150" dirty="0"/>
          </a:p>
        </p:txBody>
      </p:sp>
      <p:sp>
        <p:nvSpPr>
          <p:cNvPr id="5" name="Shape 3"/>
          <p:cNvSpPr/>
          <p:nvPr/>
        </p:nvSpPr>
        <p:spPr>
          <a:xfrm>
            <a:off x="502920" y="2651760"/>
            <a:ext cx="11155680" cy="1188720"/>
          </a:xfrm>
          <a:prstGeom prst="roundRect">
            <a:avLst>
              <a:gd name="adj" fmla="val 4615"/>
            </a:avLst>
          </a:prstGeom>
          <a:solidFill>
            <a:srgbClr val="FFDBC5"/>
          </a:solidFill>
          <a:ln/>
        </p:spPr>
      </p:sp>
      <p:sp>
        <p:nvSpPr>
          <p:cNvPr id="6" name="Text 4"/>
          <p:cNvSpPr/>
          <p:nvPr/>
        </p:nvSpPr>
        <p:spPr>
          <a:xfrm>
            <a:off x="731520" y="2761488"/>
            <a:ext cx="10698480" cy="960120"/>
          </a:xfrm>
          <a:prstGeom prst="rect">
            <a:avLst/>
          </a:prstGeom>
          <a:noFill/>
          <a:ln/>
        </p:spPr>
        <p:txBody>
          <a:bodyPr wrap="square" lIns="0" tIns="0" rIns="0" bIns="0" rtlCol="0" anchor="t"/>
          <a:lstStyle/>
          <a:p>
            <a:pPr indent="0" marL="0">
              <a:buNone/>
            </a:pPr>
            <a:r>
              <a:rPr lang="en-US" sz="2150" dirty="0">
                <a:solidFill>
                  <a:srgbClr val="0E0142"/>
                </a:solidFill>
                <a:latin typeface="Figtree" pitchFamily="34" charset="0"/>
                <a:ea typeface="Figtree" pitchFamily="34" charset="-122"/>
                <a:cs typeface="Figtree" pitchFamily="34" charset="-120"/>
              </a:rPr>
              <a:t>Claim #2: When Langston goes to the library, he feels impacted by it.</a:t>
            </a:r>
            <a:endParaRPr lang="en-US" sz="2150" dirty="0"/>
          </a:p>
        </p:txBody>
      </p:sp>
      <p:sp>
        <p:nvSpPr>
          <p:cNvPr id="7" name="Shape 5"/>
          <p:cNvSpPr/>
          <p:nvPr/>
        </p:nvSpPr>
        <p:spPr>
          <a:xfrm>
            <a:off x="502920" y="4023360"/>
            <a:ext cx="11155680" cy="1188720"/>
          </a:xfrm>
          <a:prstGeom prst="roundRect">
            <a:avLst>
              <a:gd name="adj" fmla="val 4615"/>
            </a:avLst>
          </a:prstGeom>
          <a:solidFill>
            <a:srgbClr val="FFDBC5"/>
          </a:solidFill>
          <a:ln/>
        </p:spPr>
      </p:sp>
      <p:sp>
        <p:nvSpPr>
          <p:cNvPr id="8" name="Text 6"/>
          <p:cNvSpPr/>
          <p:nvPr/>
        </p:nvSpPr>
        <p:spPr>
          <a:xfrm>
            <a:off x="731520" y="4133088"/>
            <a:ext cx="10698480" cy="960120"/>
          </a:xfrm>
          <a:prstGeom prst="rect">
            <a:avLst/>
          </a:prstGeom>
          <a:noFill/>
          <a:ln/>
        </p:spPr>
        <p:txBody>
          <a:bodyPr wrap="square" lIns="0" tIns="0" rIns="0" bIns="0" rtlCol="0" anchor="t"/>
          <a:lstStyle/>
          <a:p>
            <a:pPr indent="0" marL="0">
              <a:buNone/>
            </a:pPr>
            <a:r>
              <a:rPr lang="en-US" sz="2150" dirty="0">
                <a:solidFill>
                  <a:srgbClr val="0E0142"/>
                </a:solidFill>
                <a:latin typeface="Figtree" pitchFamily="34" charset="0"/>
                <a:ea typeface="Figtree" pitchFamily="34" charset="-122"/>
                <a:cs typeface="Figtree" pitchFamily="34" charset="-120"/>
              </a:rPr>
              <a:t>Claim #3: Langston is curious about the library and feels unsure of himself inside of it at first, but he soon discovers the library is the only place in Chicago where he feels comfortable.</a:t>
            </a:r>
            <a:endParaRPr lang="en-US" sz="2150" dirty="0"/>
          </a:p>
        </p:txBody>
      </p:sp>
      <p:sp>
        <p:nvSpPr>
          <p:cNvPr id="9" name="Text 7"/>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0" name="Text 8"/>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Launch Resource</a:t>
            </a:r>
            <a:endParaRPr lang="en-US" sz="3600" dirty="0"/>
          </a:p>
        </p:txBody>
      </p:sp>
      <p:sp>
        <p:nvSpPr>
          <p:cNvPr id="3" name="Shape 1"/>
          <p:cNvSpPr/>
          <p:nvPr/>
        </p:nvSpPr>
        <p:spPr>
          <a:xfrm>
            <a:off x="502920" y="1371600"/>
            <a:ext cx="11155680" cy="1005840"/>
          </a:xfrm>
          <a:prstGeom prst="roundRect">
            <a:avLst>
              <a:gd name="adj" fmla="val 7273"/>
            </a:avLst>
          </a:prstGeom>
          <a:solidFill>
            <a:srgbClr val="FEF3C7"/>
          </a:solidFill>
          <a:ln w="12700">
            <a:solidFill>
              <a:srgbClr val="D97706"/>
            </a:solidFill>
            <a:prstDash val="solid"/>
          </a:ln>
        </p:spPr>
      </p:sp>
      <p:sp>
        <p:nvSpPr>
          <p:cNvPr id="4" name="Text 2"/>
          <p:cNvSpPr/>
          <p:nvPr/>
        </p:nvSpPr>
        <p:spPr>
          <a:xfrm>
            <a:off x="731520" y="1508760"/>
            <a:ext cx="10698480" cy="731520"/>
          </a:xfrm>
          <a:prstGeom prst="rect">
            <a:avLst/>
          </a:prstGeom>
          <a:noFill/>
          <a:ln/>
        </p:spPr>
        <p:txBody>
          <a:bodyPr wrap="square" lIns="0" tIns="0" rIns="0" bIns="0" rtlCol="0" anchor="t"/>
          <a:lstStyle/>
          <a:p>
            <a:pPr indent="0" marL="0">
              <a:buNone/>
            </a:pPr>
            <a:r>
              <a:rPr lang="en-US" sz="1600" i="1" dirty="0">
                <a:solidFill>
                  <a:srgbClr val="92400E"/>
                </a:solidFill>
                <a:latin typeface="Figtree" pitchFamily="34" charset="0"/>
                <a:ea typeface="Figtree" pitchFamily="34" charset="-122"/>
                <a:cs typeface="Figtree" pitchFamily="34" charset="-120"/>
              </a:rPr>
              <a:t>⚠ Needs manual follow-up: Qualities of a Strong Literature Response (Folio 64) -- referenced but not reprinted in this lesson; needs an earlier-lesson or student-materials lookup this pass didn't have access to.</a:t>
            </a:r>
            <a:endParaRPr lang="en-US" sz="1600" dirty="0"/>
          </a:p>
        </p:txBody>
      </p:sp>
      <p:sp>
        <p:nvSpPr>
          <p:cNvPr id="5" name="Text 3"/>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6" name="Text 4"/>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Literature Response</a:t>
            </a:r>
            <a:endParaRPr lang="en-US" sz="3600" dirty="0"/>
          </a:p>
        </p:txBody>
      </p:sp>
      <p:sp>
        <p:nvSpPr>
          <p:cNvPr id="3" name="Text 1"/>
          <p:cNvSpPr/>
          <p:nvPr/>
        </p:nvSpPr>
        <p:spPr>
          <a:xfrm>
            <a:off x="502920" y="1188720"/>
            <a:ext cx="11155680" cy="320040"/>
          </a:xfrm>
          <a:prstGeom prst="rect">
            <a:avLst/>
          </a:prstGeom>
          <a:noFill/>
          <a:ln/>
        </p:spPr>
        <p:txBody>
          <a:bodyPr wrap="square" lIns="0" tIns="0" rIns="0" bIns="0" rtlCol="0" anchor="ctr"/>
          <a:lstStyle/>
          <a:p>
            <a:pPr indent="0" marL="0">
              <a:buNone/>
            </a:pPr>
            <a:r>
              <a:rPr lang="en-US" sz="2200" b="1" dirty="0">
                <a:solidFill>
                  <a:srgbClr val="F19A65"/>
                </a:solidFill>
                <a:latin typeface="Figtree" pitchFamily="34" charset="0"/>
                <a:ea typeface="Figtree" pitchFamily="34" charset="-122"/>
                <a:cs typeface="Figtree" pitchFamily="34" charset="-120"/>
              </a:rPr>
              <a:t>TEACHING POINT</a:t>
            </a:r>
            <a:endParaRPr lang="en-US" sz="2200" dirty="0"/>
          </a:p>
        </p:txBody>
      </p:sp>
      <p:sp>
        <p:nvSpPr>
          <p:cNvPr id="4" name="Text 2"/>
          <p:cNvSpPr/>
          <p:nvPr/>
        </p:nvSpPr>
        <p:spPr>
          <a:xfrm>
            <a:off x="502920" y="1554480"/>
            <a:ext cx="11155680" cy="100584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Writers study a prompt and respond with a claim that states their idea. They ask themselves, "What does this prompt want me to do? What do I need to include in my claim to answer all parts of the prompt?"</a:t>
            </a:r>
            <a:endParaRPr lang="en-US" sz="2150" dirty="0"/>
          </a:p>
        </p:txBody>
      </p:sp>
      <p:sp>
        <p:nvSpPr>
          <p:cNvPr id="5" name="Shape 3"/>
          <p:cNvSpPr/>
          <p:nvPr/>
        </p:nvSpPr>
        <p:spPr>
          <a:xfrm>
            <a:off x="502920" y="2743200"/>
            <a:ext cx="11155680" cy="1280160"/>
          </a:xfrm>
          <a:prstGeom prst="roundRect">
            <a:avLst>
              <a:gd name="adj" fmla="val 4286"/>
            </a:avLst>
          </a:prstGeom>
          <a:solidFill>
            <a:srgbClr val="FDEEF2"/>
          </a:solidFill>
          <a:ln w="19050">
            <a:solidFill>
              <a:srgbClr val="ED6A91"/>
            </a:solidFill>
            <a:prstDash val="dash"/>
          </a:ln>
        </p:spPr>
      </p:sp>
      <p:sp>
        <p:nvSpPr>
          <p:cNvPr id="6" name="Text 4"/>
          <p:cNvSpPr/>
          <p:nvPr/>
        </p:nvSpPr>
        <p:spPr>
          <a:xfrm>
            <a:off x="777240" y="2880360"/>
            <a:ext cx="10607040" cy="1005840"/>
          </a:xfrm>
          <a:prstGeom prst="rect">
            <a:avLst/>
          </a:prstGeom>
          <a:noFill/>
          <a:ln/>
        </p:spPr>
        <p:txBody>
          <a:bodyPr wrap="square" lIns="0" tIns="0" rIns="0" bIns="0" rtlCol="0" anchor="t"/>
          <a:lstStyle/>
          <a:p>
            <a:pPr indent="0" marL="0">
              <a:buNone/>
            </a:pPr>
            <a:r>
              <a:rPr lang="en-US" sz="2400" b="1" dirty="0">
                <a:solidFill>
                  <a:srgbClr val="3928AA"/>
                </a:solidFill>
                <a:latin typeface="Figtree" pitchFamily="34" charset="0"/>
                <a:ea typeface="Figtree" pitchFamily="34" charset="-122"/>
                <a:cs typeface="Figtree" pitchFamily="34" charset="-120"/>
              </a:rPr>
              <a:t>Prompt: </a:t>
            </a:r>
            <a:pPr indent="0" marL="0">
              <a:buNone/>
            </a:pPr>
            <a:r>
              <a:rPr lang="en-US" sz="2400" dirty="0">
                <a:solidFill>
                  <a:srgbClr val="0E0142"/>
                </a:solidFill>
                <a:latin typeface="Figtree" pitchFamily="34" charset="0"/>
                <a:ea typeface="Figtree" pitchFamily="34" charset="-122"/>
                <a:cs typeface="Figtree" pitchFamily="34" charset="-120"/>
              </a:rPr>
              <a:t>What is Langston's conflict in Finding Langston? How does the conflict evolve in Chapters 1 to 11?</a:t>
            </a:r>
            <a:endParaRPr lang="en-US" sz="2400" dirty="0"/>
          </a:p>
        </p:txBody>
      </p:sp>
      <p:sp>
        <p:nvSpPr>
          <p:cNvPr id="7" name="Text 5"/>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8" name="Text 6"/>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Writers' Circle &amp; Revise</a:t>
            </a:r>
            <a:endParaRPr lang="en-US" sz="3600" dirty="0"/>
          </a:p>
        </p:txBody>
      </p:sp>
      <p:sp>
        <p:nvSpPr>
          <p:cNvPr id="3" name="Text 1"/>
          <p:cNvSpPr/>
          <p:nvPr/>
        </p:nvSpPr>
        <p:spPr>
          <a:xfrm>
            <a:off x="502920" y="1188720"/>
            <a:ext cx="11155680" cy="320040"/>
          </a:xfrm>
          <a:prstGeom prst="rect">
            <a:avLst/>
          </a:prstGeom>
          <a:noFill/>
          <a:ln/>
        </p:spPr>
        <p:txBody>
          <a:bodyPr wrap="square" lIns="0" tIns="0" rIns="0" bIns="0" rtlCol="0" anchor="ctr"/>
          <a:lstStyle/>
          <a:p>
            <a:pPr indent="0" marL="0">
              <a:buNone/>
            </a:pPr>
            <a:r>
              <a:rPr lang="en-US" sz="2200" b="1" dirty="0">
                <a:solidFill>
                  <a:srgbClr val="F19A65"/>
                </a:solidFill>
                <a:latin typeface="Figtree" pitchFamily="34" charset="0"/>
                <a:ea typeface="Figtree" pitchFamily="34" charset="-122"/>
                <a:cs typeface="Figtree" pitchFamily="34" charset="-120"/>
              </a:rPr>
              <a:t>TEACHING POINT</a:t>
            </a:r>
            <a:endParaRPr lang="en-US" sz="2200" dirty="0"/>
          </a:p>
        </p:txBody>
      </p:sp>
      <p:sp>
        <p:nvSpPr>
          <p:cNvPr id="4" name="Text 2"/>
          <p:cNvSpPr/>
          <p:nvPr/>
        </p:nvSpPr>
        <p:spPr>
          <a:xfrm>
            <a:off x="502920" y="1554480"/>
            <a:ext cx="11155680" cy="100584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Writers study a prompt and respond with a claim that states their idea. They ask themselves, "What does this prompt want me to do? What do I need to include in my claim to answer all parts of the prompt?"</a:t>
            </a:r>
            <a:endParaRPr lang="en-US" sz="2150" dirty="0"/>
          </a:p>
        </p:txBody>
      </p:sp>
      <p:sp>
        <p:nvSpPr>
          <p:cNvPr id="5" name="Text 3"/>
          <p:cNvSpPr/>
          <p:nvPr/>
        </p:nvSpPr>
        <p:spPr>
          <a:xfrm>
            <a:off x="502920" y="2743200"/>
            <a:ext cx="11155680" cy="320040"/>
          </a:xfrm>
          <a:prstGeom prst="rect">
            <a:avLst/>
          </a:prstGeom>
          <a:noFill/>
          <a:ln/>
        </p:spPr>
        <p:txBody>
          <a:bodyPr wrap="square" lIns="0" tIns="0" rIns="0" bIns="0" rtlCol="0" anchor="ctr"/>
          <a:lstStyle/>
          <a:p>
            <a:pPr indent="0" marL="0">
              <a:buNone/>
            </a:pPr>
            <a:r>
              <a:rPr lang="en-US" sz="2200" b="1" dirty="0">
                <a:solidFill>
                  <a:srgbClr val="F19A65"/>
                </a:solidFill>
                <a:latin typeface="Figtree" pitchFamily="34" charset="0"/>
                <a:ea typeface="Figtree" pitchFamily="34" charset="-122"/>
                <a:cs typeface="Figtree" pitchFamily="34" charset="-120"/>
              </a:rPr>
              <a:t>FOCUS FOR FEEDBACK</a:t>
            </a:r>
            <a:endParaRPr lang="en-US" sz="2200" dirty="0"/>
          </a:p>
        </p:txBody>
      </p:sp>
      <p:sp>
        <p:nvSpPr>
          <p:cNvPr id="6" name="Shape 4"/>
          <p:cNvSpPr/>
          <p:nvPr/>
        </p:nvSpPr>
        <p:spPr>
          <a:xfrm>
            <a:off x="548640" y="3246120"/>
            <a:ext cx="100584" cy="100584"/>
          </a:xfrm>
          <a:prstGeom prst="ellipse">
            <a:avLst/>
          </a:prstGeom>
          <a:solidFill>
            <a:srgbClr val="9343F6"/>
          </a:solidFill>
          <a:ln/>
        </p:spPr>
      </p:sp>
      <p:sp>
        <p:nvSpPr>
          <p:cNvPr id="7" name="Text 5"/>
          <p:cNvSpPr/>
          <p:nvPr/>
        </p:nvSpPr>
        <p:spPr>
          <a:xfrm>
            <a:off x="777240" y="3154680"/>
            <a:ext cx="10881360" cy="77724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Claims, and whether they completely address Langston's main conflict and how it evolves throughout the first 11 chapters.</a:t>
            </a:r>
            <a:endParaRPr lang="en-US" sz="2150" dirty="0"/>
          </a:p>
        </p:txBody>
      </p:sp>
      <p:sp>
        <p:nvSpPr>
          <p:cNvPr id="8" name="Shape 6"/>
          <p:cNvSpPr/>
          <p:nvPr/>
        </p:nvSpPr>
        <p:spPr>
          <a:xfrm>
            <a:off x="548640" y="4069080"/>
            <a:ext cx="100584" cy="100584"/>
          </a:xfrm>
          <a:prstGeom prst="ellipse">
            <a:avLst/>
          </a:prstGeom>
          <a:solidFill>
            <a:srgbClr val="9343F6"/>
          </a:solidFill>
          <a:ln/>
        </p:spPr>
      </p:sp>
      <p:sp>
        <p:nvSpPr>
          <p:cNvPr id="9" name="Text 7"/>
          <p:cNvSpPr/>
          <p:nvPr/>
        </p:nvSpPr>
        <p:spPr>
          <a:xfrm>
            <a:off x="777240" y="3977640"/>
            <a:ext cx="10881360" cy="77724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Response structures, and whether they clearly include the writers' ideas or are unclear and include details from the text that should be explained as evidence.</a:t>
            </a:r>
            <a:endParaRPr lang="en-US" sz="2150" dirty="0"/>
          </a:p>
        </p:txBody>
      </p:sp>
      <p:sp>
        <p:nvSpPr>
          <p:cNvPr id="10" name="Text 8"/>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1" name="Text 9"/>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382DB0"/>
                </a:solidFill>
                <a:latin typeface="Figtree" pitchFamily="34" charset="0"/>
                <a:ea typeface="Figtree" pitchFamily="34" charset="-122"/>
                <a:cs typeface="Figtree" pitchFamily="34" charset="-120"/>
              </a:rPr>
              <a:t>Closing</a:t>
            </a:r>
            <a:endParaRPr lang="en-US" sz="3600" dirty="0"/>
          </a:p>
        </p:txBody>
      </p:sp>
      <p:sp>
        <p:nvSpPr>
          <p:cNvPr id="3" name="Shape 1"/>
          <p:cNvSpPr/>
          <p:nvPr/>
        </p:nvSpPr>
        <p:spPr>
          <a:xfrm>
            <a:off x="502920" y="1051560"/>
            <a:ext cx="54864" cy="1234440"/>
          </a:xfrm>
          <a:prstGeom prst="rect">
            <a:avLst/>
          </a:prstGeom>
          <a:solidFill>
            <a:srgbClr val="3928AA"/>
          </a:solidFill>
          <a:ln/>
        </p:spPr>
      </p:sp>
      <p:sp>
        <p:nvSpPr>
          <p:cNvPr id="4" name="Shape 2"/>
          <p:cNvSpPr/>
          <p:nvPr/>
        </p:nvSpPr>
        <p:spPr>
          <a:xfrm>
            <a:off x="557784" y="1051560"/>
            <a:ext cx="11064240" cy="1234440"/>
          </a:xfrm>
          <a:prstGeom prst="rect">
            <a:avLst/>
          </a:prstGeom>
          <a:solidFill>
            <a:srgbClr val="FFF3CB"/>
          </a:solidFill>
          <a:ln/>
        </p:spPr>
      </p:sp>
      <p:sp>
        <p:nvSpPr>
          <p:cNvPr id="5" name="Text 3"/>
          <p:cNvSpPr/>
          <p:nvPr/>
        </p:nvSpPr>
        <p:spPr>
          <a:xfrm>
            <a:off x="777240" y="1188720"/>
            <a:ext cx="10698480" cy="274320"/>
          </a:xfrm>
          <a:prstGeom prst="rect">
            <a:avLst/>
          </a:prstGeom>
          <a:noFill/>
          <a:ln/>
        </p:spPr>
        <p:txBody>
          <a:bodyPr wrap="square" lIns="0" tIns="0" rIns="0" bIns="0" rtlCol="0" anchor="ctr"/>
          <a:lstStyle/>
          <a:p>
            <a:pPr indent="0" marL="0">
              <a:buNone/>
            </a:pPr>
            <a:r>
              <a:rPr lang="en-US" sz="2200" b="1" dirty="0">
                <a:solidFill>
                  <a:srgbClr val="3928AA"/>
                </a:solidFill>
                <a:latin typeface="Figtree" pitchFamily="34" charset="0"/>
                <a:ea typeface="Figtree" pitchFamily="34" charset="-122"/>
                <a:cs typeface="Figtree" pitchFamily="34" charset="-120"/>
              </a:rPr>
              <a:t>ESSENTIAL QUESTION</a:t>
            </a:r>
            <a:endParaRPr lang="en-US" sz="2200" dirty="0"/>
          </a:p>
        </p:txBody>
      </p:sp>
      <p:sp>
        <p:nvSpPr>
          <p:cNvPr id="6" name="Text 4"/>
          <p:cNvSpPr/>
          <p:nvPr/>
        </p:nvSpPr>
        <p:spPr>
          <a:xfrm>
            <a:off x="777240" y="1508760"/>
            <a:ext cx="10698480" cy="685800"/>
          </a:xfrm>
          <a:prstGeom prst="rect">
            <a:avLst/>
          </a:prstGeom>
          <a:noFill/>
          <a:ln/>
        </p:spPr>
        <p:txBody>
          <a:bodyPr wrap="square" lIns="0" tIns="0" rIns="0" bIns="0" rtlCol="0" anchor="t"/>
          <a:lstStyle/>
          <a:p>
            <a:pPr indent="0" marL="0">
              <a:buNone/>
            </a:pPr>
            <a:r>
              <a:rPr lang="en-US" sz="2400" b="1" dirty="0">
                <a:solidFill>
                  <a:srgbClr val="0E0142"/>
                </a:solidFill>
                <a:latin typeface="Figtree" pitchFamily="34" charset="0"/>
                <a:ea typeface="Figtree" pitchFamily="34" charset="-122"/>
                <a:cs typeface="Figtree" pitchFamily="34" charset="-120"/>
              </a:rPr>
              <a:t>How do narrative writers use event sequences and descriptive details to craft a compelling story?</a:t>
            </a:r>
            <a:endParaRPr lang="en-US" sz="2400" dirty="0"/>
          </a:p>
        </p:txBody>
      </p:sp>
      <p:sp>
        <p:nvSpPr>
          <p:cNvPr id="7" name="Shape 5"/>
          <p:cNvSpPr/>
          <p:nvPr/>
        </p:nvSpPr>
        <p:spPr>
          <a:xfrm>
            <a:off x="502920" y="2514600"/>
            <a:ext cx="11155680" cy="45720"/>
          </a:xfrm>
          <a:prstGeom prst="rect">
            <a:avLst/>
          </a:prstGeom>
          <a:solidFill>
            <a:srgbClr val="F19A65"/>
          </a:solidFill>
          <a:ln/>
        </p:spPr>
      </p:sp>
      <p:sp>
        <p:nvSpPr>
          <p:cNvPr id="8" name="Shape 6"/>
          <p:cNvSpPr/>
          <p:nvPr/>
        </p:nvSpPr>
        <p:spPr>
          <a:xfrm>
            <a:off x="502920" y="2560320"/>
            <a:ext cx="11155680" cy="2194560"/>
          </a:xfrm>
          <a:prstGeom prst="rect">
            <a:avLst/>
          </a:prstGeom>
          <a:solidFill>
            <a:srgbClr val="FFFFFF"/>
          </a:solidFill>
          <a:ln w="12700">
            <a:solidFill>
              <a:srgbClr val="E5EFF9"/>
            </a:solidFill>
            <a:prstDash val="solid"/>
          </a:ln>
        </p:spPr>
      </p:sp>
      <p:sp>
        <p:nvSpPr>
          <p:cNvPr id="9" name="Text 7"/>
          <p:cNvSpPr/>
          <p:nvPr/>
        </p:nvSpPr>
        <p:spPr>
          <a:xfrm>
            <a:off x="685800" y="2743200"/>
            <a:ext cx="10789920" cy="320040"/>
          </a:xfrm>
          <a:prstGeom prst="rect">
            <a:avLst/>
          </a:prstGeom>
          <a:noFill/>
          <a:ln/>
        </p:spPr>
        <p:txBody>
          <a:bodyPr wrap="square" lIns="0" tIns="0" rIns="0" bIns="0" rtlCol="0" anchor="ctr"/>
          <a:lstStyle/>
          <a:p>
            <a:pPr indent="0" marL="0">
              <a:buNone/>
            </a:pPr>
            <a:r>
              <a:rPr lang="en-US" sz="2200" b="1" dirty="0">
                <a:solidFill>
                  <a:srgbClr val="F19A65"/>
                </a:solidFill>
                <a:latin typeface="Figtree" pitchFamily="34" charset="0"/>
                <a:ea typeface="Figtree" pitchFamily="34" charset="-122"/>
                <a:cs typeface="Figtree" pitchFamily="34" charset="-120"/>
              </a:rPr>
              <a:t>TEACHING POINT</a:t>
            </a:r>
            <a:endParaRPr lang="en-US" sz="2200" dirty="0"/>
          </a:p>
        </p:txBody>
      </p:sp>
      <p:sp>
        <p:nvSpPr>
          <p:cNvPr id="10" name="Text 8"/>
          <p:cNvSpPr/>
          <p:nvPr/>
        </p:nvSpPr>
        <p:spPr>
          <a:xfrm>
            <a:off x="685800" y="3108960"/>
            <a:ext cx="10789920" cy="1554480"/>
          </a:xfrm>
          <a:prstGeom prst="rect">
            <a:avLst/>
          </a:prstGeom>
          <a:noFill/>
          <a:ln/>
        </p:spPr>
        <p:txBody>
          <a:bodyPr wrap="square" lIns="0" tIns="0" rIns="0" bIns="0" rtlCol="0" anchor="t"/>
          <a:lstStyle/>
          <a:p>
            <a:pPr indent="0" marL="0">
              <a:buNone/>
            </a:pPr>
            <a:r>
              <a:rPr lang="en-US" sz="2400" dirty="0">
                <a:solidFill>
                  <a:srgbClr val="0E0142"/>
                </a:solidFill>
                <a:latin typeface="Figtree" pitchFamily="34" charset="0"/>
                <a:ea typeface="Figtree" pitchFamily="34" charset="-122"/>
                <a:cs typeface="Figtree" pitchFamily="34" charset="-120"/>
              </a:rPr>
              <a:t>Writers study a prompt and respond with a claim that states their idea. They ask themselves, "What does this prompt want me to do? What do I need to include in my claim to answer all parts of the prompt?"</a:t>
            </a:r>
            <a:endParaRPr lang="en-US" sz="2400" dirty="0"/>
          </a:p>
        </p:txBody>
      </p:sp>
      <p:sp>
        <p:nvSpPr>
          <p:cNvPr id="11" name="Text 9"/>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6B6478"/>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2" name="Text 10"/>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6B6478"/>
                </a:solidFill>
                <a:latin typeface="Figtree" pitchFamily="34" charset="0"/>
                <a:ea typeface="Figtree" pitchFamily="34" charset="-122"/>
                <a:cs typeface="Figtree" pitchFamily="34" charset="-120"/>
              </a:rPr>
              <a:t>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928AA"/>
        </a:solidFill>
      </p:bgPr>
    </p:bg>
    <p:spTree>
      <p:nvGrpSpPr>
        <p:cNvPr id="1" name=""/>
        <p:cNvGrpSpPr/>
        <p:nvPr/>
      </p:nvGrpSpPr>
      <p:grpSpPr>
        <a:xfrm>
          <a:off x="0" y="0"/>
          <a:ext cx="0" cy="0"/>
          <a:chOff x="0" y="0"/>
          <a:chExt cx="0" cy="0"/>
        </a:xfrm>
      </p:grpSpPr>
      <p:sp>
        <p:nvSpPr>
          <p:cNvPr id="2" name="Text 0"/>
          <p:cNvSpPr/>
          <p:nvPr/>
        </p:nvSpPr>
        <p:spPr>
          <a:xfrm>
            <a:off x="502920" y="320040"/>
            <a:ext cx="11064240" cy="548640"/>
          </a:xfrm>
          <a:prstGeom prst="rect">
            <a:avLst/>
          </a:prstGeom>
          <a:noFill/>
          <a:ln/>
        </p:spPr>
        <p:txBody>
          <a:bodyPr wrap="square" lIns="0" tIns="0" rIns="0" bIns="0" rtlCol="0" anchor="ctr"/>
          <a:lstStyle/>
          <a:p>
            <a:pPr indent="0" marL="0">
              <a:buNone/>
            </a:pPr>
            <a:r>
              <a:rPr lang="en-US" sz="3600" b="1" dirty="0">
                <a:solidFill>
                  <a:srgbClr val="FFFFFF"/>
                </a:solidFill>
                <a:latin typeface="Figtree" pitchFamily="34" charset="0"/>
                <a:ea typeface="Figtree" pitchFamily="34" charset="-122"/>
                <a:cs typeface="Figtree" pitchFamily="34" charset="-120"/>
              </a:rPr>
              <a:t>Lesson Vocabulary Review</a:t>
            </a:r>
            <a:endParaRPr lang="en-US" sz="3600" dirty="0"/>
          </a:p>
        </p:txBody>
      </p:sp>
      <p:sp>
        <p:nvSpPr>
          <p:cNvPr id="3" name="Shape 1"/>
          <p:cNvSpPr/>
          <p:nvPr/>
        </p:nvSpPr>
        <p:spPr>
          <a:xfrm>
            <a:off x="502920" y="1143000"/>
            <a:ext cx="5440680" cy="2468880"/>
          </a:xfrm>
          <a:prstGeom prst="roundRect">
            <a:avLst>
              <a:gd name="adj" fmla="val 2222"/>
            </a:avLst>
          </a:prstGeom>
          <a:solidFill>
            <a:srgbClr val="FFFFFF"/>
          </a:solidFill>
          <a:ln w="12700">
            <a:solidFill>
              <a:srgbClr val="F19A65"/>
            </a:solidFill>
            <a:prstDash val="solid"/>
          </a:ln>
        </p:spPr>
      </p:sp>
      <p:pic>
        <p:nvPicPr>
          <p:cNvPr id="4" name="Image 0" descr="Lesson_6b_S6.pptx_build_tmp/icons/evaluate.png">    </p:cNvPr>
          <p:cNvPicPr>
            <a:picLocks noChangeAspect="1"/>
          </p:cNvPicPr>
          <p:nvPr/>
        </p:nvPicPr>
        <p:blipFill>
          <a:blip r:embed="rId1"/>
          <a:stretch>
            <a:fillRect/>
          </a:stretch>
        </p:blipFill>
        <p:spPr>
          <a:xfrm>
            <a:off x="685800" y="1325880"/>
            <a:ext cx="502920" cy="502920"/>
          </a:xfrm>
          <a:prstGeom prst="rect">
            <a:avLst/>
          </a:prstGeom>
        </p:spPr>
      </p:pic>
      <p:sp>
        <p:nvSpPr>
          <p:cNvPr id="5" name="Text 2"/>
          <p:cNvSpPr/>
          <p:nvPr/>
        </p:nvSpPr>
        <p:spPr>
          <a:xfrm>
            <a:off x="1325880" y="134416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evaluate</a:t>
            </a:r>
            <a:endParaRPr lang="en-US" sz="2400" dirty="0"/>
          </a:p>
        </p:txBody>
      </p:sp>
      <p:sp>
        <p:nvSpPr>
          <p:cNvPr id="6" name="Text 3"/>
          <p:cNvSpPr/>
          <p:nvPr/>
        </p:nvSpPr>
        <p:spPr>
          <a:xfrm>
            <a:off x="685800" y="205740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To study something and determine its level of accuracy, completion, and opportunities for improvement.</a:t>
            </a:r>
            <a:endParaRPr lang="en-US" sz="2150" dirty="0"/>
          </a:p>
        </p:txBody>
      </p:sp>
      <p:sp>
        <p:nvSpPr>
          <p:cNvPr id="7" name="Shape 4"/>
          <p:cNvSpPr/>
          <p:nvPr/>
        </p:nvSpPr>
        <p:spPr>
          <a:xfrm>
            <a:off x="6217920" y="1143000"/>
            <a:ext cx="5440680" cy="2468880"/>
          </a:xfrm>
          <a:prstGeom prst="roundRect">
            <a:avLst>
              <a:gd name="adj" fmla="val 2222"/>
            </a:avLst>
          </a:prstGeom>
          <a:solidFill>
            <a:srgbClr val="FFFFFF"/>
          </a:solidFill>
          <a:ln w="12700">
            <a:solidFill>
              <a:srgbClr val="F19A65"/>
            </a:solidFill>
            <a:prstDash val="solid"/>
          </a:ln>
        </p:spPr>
      </p:sp>
      <p:pic>
        <p:nvPicPr>
          <p:cNvPr id="8" name="Image 1" descr="Lesson_6b_S6.pptx_build_tmp/icons/ensure.png">    </p:cNvPr>
          <p:cNvPicPr>
            <a:picLocks noChangeAspect="1"/>
          </p:cNvPicPr>
          <p:nvPr/>
        </p:nvPicPr>
        <p:blipFill>
          <a:blip r:embed="rId2"/>
          <a:stretch>
            <a:fillRect/>
          </a:stretch>
        </p:blipFill>
        <p:spPr>
          <a:xfrm>
            <a:off x="6400800" y="1325880"/>
            <a:ext cx="502920" cy="502920"/>
          </a:xfrm>
          <a:prstGeom prst="rect">
            <a:avLst/>
          </a:prstGeom>
        </p:spPr>
      </p:pic>
      <p:sp>
        <p:nvSpPr>
          <p:cNvPr id="9" name="Text 5"/>
          <p:cNvSpPr/>
          <p:nvPr/>
        </p:nvSpPr>
        <p:spPr>
          <a:xfrm>
            <a:off x="7040880" y="134416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ensure</a:t>
            </a:r>
            <a:endParaRPr lang="en-US" sz="2400" dirty="0"/>
          </a:p>
        </p:txBody>
      </p:sp>
      <p:sp>
        <p:nvSpPr>
          <p:cNvPr id="10" name="Text 6"/>
          <p:cNvSpPr/>
          <p:nvPr/>
        </p:nvSpPr>
        <p:spPr>
          <a:xfrm>
            <a:off x="6400800" y="205740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To make sure or certain.</a:t>
            </a:r>
            <a:endParaRPr lang="en-US" sz="2150" dirty="0"/>
          </a:p>
        </p:txBody>
      </p:sp>
      <p:sp>
        <p:nvSpPr>
          <p:cNvPr id="11" name="Shape 7"/>
          <p:cNvSpPr/>
          <p:nvPr/>
        </p:nvSpPr>
        <p:spPr>
          <a:xfrm>
            <a:off x="502920" y="3749040"/>
            <a:ext cx="5440680" cy="2468880"/>
          </a:xfrm>
          <a:prstGeom prst="roundRect">
            <a:avLst>
              <a:gd name="adj" fmla="val 2222"/>
            </a:avLst>
          </a:prstGeom>
          <a:solidFill>
            <a:srgbClr val="FFFFFF"/>
          </a:solidFill>
          <a:ln w="12700">
            <a:solidFill>
              <a:srgbClr val="F19A65"/>
            </a:solidFill>
            <a:prstDash val="solid"/>
          </a:ln>
        </p:spPr>
      </p:sp>
      <p:pic>
        <p:nvPicPr>
          <p:cNvPr id="12" name="Image 2" descr="Lesson_6b_S6.pptx_build_tmp/icons/evolve.png">    </p:cNvPr>
          <p:cNvPicPr>
            <a:picLocks noChangeAspect="1"/>
          </p:cNvPicPr>
          <p:nvPr/>
        </p:nvPicPr>
        <p:blipFill>
          <a:blip r:embed="rId3"/>
          <a:stretch>
            <a:fillRect/>
          </a:stretch>
        </p:blipFill>
        <p:spPr>
          <a:xfrm>
            <a:off x="685800" y="3931920"/>
            <a:ext cx="502920" cy="502920"/>
          </a:xfrm>
          <a:prstGeom prst="rect">
            <a:avLst/>
          </a:prstGeom>
        </p:spPr>
      </p:pic>
      <p:sp>
        <p:nvSpPr>
          <p:cNvPr id="13" name="Text 8"/>
          <p:cNvSpPr/>
          <p:nvPr/>
        </p:nvSpPr>
        <p:spPr>
          <a:xfrm>
            <a:off x="1325880" y="3950208"/>
            <a:ext cx="4480560" cy="457200"/>
          </a:xfrm>
          <a:prstGeom prst="rect">
            <a:avLst/>
          </a:prstGeom>
          <a:noFill/>
          <a:ln/>
        </p:spPr>
        <p:txBody>
          <a:bodyPr wrap="square" lIns="0" tIns="0" rIns="0" bIns="0" rtlCol="0" anchor="ctr"/>
          <a:lstStyle/>
          <a:p>
            <a:pPr indent="0" marL="0">
              <a:buNone/>
            </a:pPr>
            <a:r>
              <a:rPr lang="en-US" sz="2400" b="1" dirty="0">
                <a:solidFill>
                  <a:srgbClr val="0E0142"/>
                </a:solidFill>
                <a:latin typeface="Figtree" pitchFamily="34" charset="0"/>
                <a:ea typeface="Figtree" pitchFamily="34" charset="-122"/>
                <a:cs typeface="Figtree" pitchFamily="34" charset="-120"/>
              </a:rPr>
              <a:t>evolve</a:t>
            </a:r>
            <a:endParaRPr lang="en-US" sz="2400" dirty="0"/>
          </a:p>
        </p:txBody>
      </p:sp>
      <p:sp>
        <p:nvSpPr>
          <p:cNvPr id="14" name="Text 9"/>
          <p:cNvSpPr/>
          <p:nvPr/>
        </p:nvSpPr>
        <p:spPr>
          <a:xfrm>
            <a:off x="685800" y="4663440"/>
            <a:ext cx="5074920" cy="1417320"/>
          </a:xfrm>
          <a:prstGeom prst="rect">
            <a:avLst/>
          </a:prstGeom>
          <a:noFill/>
          <a:ln/>
        </p:spPr>
        <p:txBody>
          <a:bodyPr wrap="square" lIns="0" tIns="0" rIns="0" bIns="0" rtlCol="0" anchor="t"/>
          <a:lstStyle/>
          <a:p>
            <a:pPr indent="0" marL="0">
              <a:buNone/>
            </a:pPr>
            <a:r>
              <a:rPr lang="en-US" sz="2150" dirty="0">
                <a:solidFill>
                  <a:srgbClr val="33322E"/>
                </a:solidFill>
                <a:latin typeface="Figtree" pitchFamily="34" charset="0"/>
                <a:ea typeface="Figtree" pitchFamily="34" charset="-122"/>
                <a:cs typeface="Figtree" pitchFamily="34" charset="-120"/>
              </a:rPr>
              <a:t>To change over time.</a:t>
            </a:r>
            <a:endParaRPr lang="en-US" sz="2150" dirty="0"/>
          </a:p>
        </p:txBody>
      </p:sp>
      <p:sp>
        <p:nvSpPr>
          <p:cNvPr id="15" name="Text 10"/>
          <p:cNvSpPr/>
          <p:nvPr/>
        </p:nvSpPr>
        <p:spPr>
          <a:xfrm>
            <a:off x="457200" y="6492240"/>
            <a:ext cx="10789920" cy="274320"/>
          </a:xfrm>
          <a:prstGeom prst="rect">
            <a:avLst/>
          </a:prstGeom>
          <a:noFill/>
          <a:ln/>
        </p:spPr>
        <p:txBody>
          <a:bodyPr wrap="square" lIns="0" tIns="0" rIns="0" bIns="0" rtlCol="0" anchor="ctr"/>
          <a:lstStyle/>
          <a:p>
            <a:pPr algn="l" indent="0" marL="0">
              <a:buNone/>
            </a:pPr>
            <a:r>
              <a:rPr lang="en-US" sz="1200" i="1" dirty="0">
                <a:solidFill>
                  <a:srgbClr val="C9BEEB"/>
                </a:solidFill>
                <a:latin typeface="Figtree" pitchFamily="34" charset="0"/>
                <a:ea typeface="Figtree" pitchFamily="34" charset="-122"/>
                <a:cs typeface="Figtree" pitchFamily="34" charset="-120"/>
              </a:rPr>
              <a:t>Grade 4, Knowledge Unit 2 | A Road to Belonging: The Great Migration</a:t>
            </a:r>
            <a:endParaRPr lang="en-US" sz="1200" dirty="0"/>
          </a:p>
        </p:txBody>
      </p:sp>
      <p:sp>
        <p:nvSpPr>
          <p:cNvPr id="16" name="Text 11"/>
          <p:cNvSpPr/>
          <p:nvPr/>
        </p:nvSpPr>
        <p:spPr>
          <a:xfrm>
            <a:off x="11338560" y="6492240"/>
            <a:ext cx="365760" cy="274320"/>
          </a:xfrm>
          <a:prstGeom prst="rect">
            <a:avLst/>
          </a:prstGeom>
          <a:noFill/>
          <a:ln/>
        </p:spPr>
        <p:txBody>
          <a:bodyPr wrap="square" lIns="0" tIns="0" rIns="0" bIns="0" rtlCol="0" anchor="ctr"/>
          <a:lstStyle/>
          <a:p>
            <a:pPr algn="r" indent="0" marL="0">
              <a:buNone/>
            </a:pPr>
            <a:r>
              <a:rPr lang="en-US" sz="1200" dirty="0">
                <a:solidFill>
                  <a:srgbClr val="C9BEEB"/>
                </a:solidFill>
                <a:latin typeface="Figtree" pitchFamily="34" charset="0"/>
                <a:ea typeface="Figtree" pitchFamily="34" charset="-122"/>
                <a:cs typeface="Figtree" pitchFamily="34" charset="-120"/>
              </a:rPr>
              <a:t>11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2026-08-14T00:16:11Z</dcterms:created>
  <dcterms:modified xsi:type="dcterms:W3CDTF">2026-08-14T00:16:11Z</dcterms:modified>
</cp:coreProperties>
</file>